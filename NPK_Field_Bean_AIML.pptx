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jpg" ContentType="image/jpg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558666" y="9481439"/>
            <a:ext cx="65532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2116" y="3367151"/>
            <a:ext cx="6209665" cy="9525"/>
          </a:xfrm>
          <a:custGeom>
            <a:avLst/>
            <a:gdLst/>
            <a:ahLst/>
            <a:cxnLst/>
            <a:rect l="l" t="t" r="r" b="b"/>
            <a:pathLst>
              <a:path w="6209665" h="9525">
                <a:moveTo>
                  <a:pt x="6209665" y="0"/>
                </a:moveTo>
                <a:lnTo>
                  <a:pt x="0" y="0"/>
                </a:lnTo>
                <a:lnTo>
                  <a:pt x="0" y="9144"/>
                </a:lnTo>
                <a:lnTo>
                  <a:pt x="6209665" y="9144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82192" y="1620859"/>
            <a:ext cx="6005830" cy="256476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dirty="0" sz="1800" b="1">
                <a:solidFill>
                  <a:srgbClr val="1B5E1F"/>
                </a:solidFill>
                <a:latin typeface="Calibri"/>
                <a:cs typeface="Calibri"/>
              </a:rPr>
              <a:t>UNIVERSITY</a:t>
            </a:r>
            <a:r>
              <a:rPr dirty="0" sz="1800" spc="-20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B5E1F"/>
                </a:solidFill>
                <a:latin typeface="Calibri"/>
                <a:cs typeface="Calibri"/>
              </a:rPr>
              <a:t>OF</a:t>
            </a:r>
            <a:r>
              <a:rPr dirty="0" sz="1800" spc="-25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B5E1F"/>
                </a:solidFill>
                <a:latin typeface="Calibri"/>
                <a:cs typeface="Calibri"/>
              </a:rPr>
              <a:t>AGRICULTURAL</a:t>
            </a:r>
            <a:r>
              <a:rPr dirty="0" sz="1800" spc="-10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B5E1F"/>
                </a:solidFill>
                <a:latin typeface="Calibri"/>
                <a:cs typeface="Calibri"/>
              </a:rPr>
              <a:t>SCIENCES,</a:t>
            </a:r>
            <a:r>
              <a:rPr dirty="0" sz="1800" spc="-20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B5E1F"/>
                </a:solidFill>
                <a:latin typeface="Calibri"/>
                <a:cs typeface="Calibri"/>
              </a:rPr>
              <a:t>BENGALURU</a:t>
            </a:r>
            <a:endParaRPr sz="18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560"/>
              </a:spcBef>
            </a:pPr>
            <a:r>
              <a:rPr dirty="0" sz="1300">
                <a:solidFill>
                  <a:srgbClr val="2D7C31"/>
                </a:solidFill>
                <a:latin typeface="Calibri"/>
                <a:cs typeface="Calibri"/>
              </a:rPr>
              <a:t>College</a:t>
            </a:r>
            <a:r>
              <a:rPr dirty="0" sz="1300" spc="-45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1300" spc="-45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7C31"/>
                </a:solidFill>
                <a:latin typeface="Calibri"/>
                <a:cs typeface="Calibri"/>
              </a:rPr>
              <a:t>Agriculture,</a:t>
            </a:r>
            <a:r>
              <a:rPr dirty="0" sz="1300" spc="-40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7C31"/>
                </a:solidFill>
                <a:latin typeface="Calibri"/>
                <a:cs typeface="Calibri"/>
              </a:rPr>
              <a:t>GKVK,</a:t>
            </a:r>
            <a:r>
              <a:rPr dirty="0" sz="1300" spc="-35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7C31"/>
                </a:solidFill>
                <a:latin typeface="Calibri"/>
                <a:cs typeface="Calibri"/>
              </a:rPr>
              <a:t>Bengaluru</a:t>
            </a:r>
            <a:r>
              <a:rPr dirty="0" sz="1300" spc="-30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D7C31"/>
                </a:solidFill>
                <a:latin typeface="Calibri"/>
                <a:cs typeface="Calibri"/>
              </a:rPr>
              <a:t>–</a:t>
            </a:r>
            <a:r>
              <a:rPr dirty="0" sz="1300" spc="-40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D7C31"/>
                </a:solidFill>
                <a:latin typeface="Calibri"/>
                <a:cs typeface="Calibri"/>
              </a:rPr>
              <a:t>560065</a:t>
            </a:r>
            <a:endParaRPr sz="1300">
              <a:latin typeface="Calibri"/>
              <a:cs typeface="Calibri"/>
            </a:endParaRPr>
          </a:p>
          <a:p>
            <a:pPr algn="ctr" marL="1905">
              <a:lnSpc>
                <a:spcPct val="100000"/>
              </a:lnSpc>
              <a:spcBef>
                <a:spcPts val="330"/>
              </a:spcBef>
            </a:pPr>
            <a:r>
              <a:rPr dirty="0" sz="1200" i="1">
                <a:latin typeface="Calibri"/>
                <a:cs typeface="Calibri"/>
              </a:rPr>
              <a:t>Department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of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spc="-10" i="1">
                <a:latin typeface="Calibri"/>
                <a:cs typeface="Calibri"/>
              </a:rPr>
              <a:t>Agronomy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200">
              <a:latin typeface="Calibri"/>
              <a:cs typeface="Calibri"/>
            </a:endParaRPr>
          </a:p>
          <a:p>
            <a:pPr algn="ctr" marL="4445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solidFill>
                  <a:srgbClr val="1B5E1F"/>
                </a:solidFill>
                <a:latin typeface="Calibri"/>
                <a:cs typeface="Calibri"/>
              </a:rPr>
              <a:t>RESEARCH</a:t>
            </a:r>
            <a:r>
              <a:rPr dirty="0" sz="2000" spc="-30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1B5E1F"/>
                </a:solidFill>
                <a:latin typeface="Calibri"/>
                <a:cs typeface="Calibri"/>
              </a:rPr>
              <a:t>REPORT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2000">
              <a:latin typeface="Calibri"/>
              <a:cs typeface="Calibri"/>
            </a:endParaRPr>
          </a:p>
          <a:p>
            <a:pPr algn="ctr" marL="12700" marR="5080">
              <a:lnSpc>
                <a:spcPct val="101400"/>
              </a:lnSpc>
            </a:pP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"Effect</a:t>
            </a:r>
            <a:r>
              <a:rPr dirty="0" sz="1400" spc="-30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of</a:t>
            </a:r>
            <a:r>
              <a:rPr dirty="0" sz="1400" spc="-40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Different</a:t>
            </a:r>
            <a:r>
              <a:rPr dirty="0" sz="1400" spc="-35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Levels</a:t>
            </a:r>
            <a:r>
              <a:rPr dirty="0" sz="1400" spc="-25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of</a:t>
            </a:r>
            <a:r>
              <a:rPr dirty="0" sz="1400" spc="-30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Nitrogen,</a:t>
            </a:r>
            <a:r>
              <a:rPr dirty="0" sz="1400" spc="-25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Phosphorus</a:t>
            </a:r>
            <a:r>
              <a:rPr dirty="0" sz="1400" spc="-35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and</a:t>
            </a:r>
            <a:r>
              <a:rPr dirty="0" sz="1400" spc="-25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Potassium</a:t>
            </a:r>
            <a:r>
              <a:rPr dirty="0" sz="1400" spc="-25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on</a:t>
            </a:r>
            <a:r>
              <a:rPr dirty="0" sz="1400" spc="-25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Growth</a:t>
            </a:r>
            <a:r>
              <a:rPr dirty="0" sz="1400" spc="-25" b="1" i="1">
                <a:solidFill>
                  <a:srgbClr val="1A227D"/>
                </a:solidFill>
                <a:latin typeface="Calibri"/>
                <a:cs typeface="Calibri"/>
              </a:rPr>
              <a:t> and</a:t>
            </a:r>
            <a:r>
              <a:rPr dirty="0" sz="1400" spc="-25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Yield</a:t>
            </a:r>
            <a:r>
              <a:rPr dirty="0" sz="1400" spc="-30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of</a:t>
            </a:r>
            <a:r>
              <a:rPr dirty="0" sz="1400" spc="-25" b="1" i="1">
                <a:solidFill>
                  <a:srgbClr val="1A227D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1A227D"/>
                </a:solidFill>
                <a:latin typeface="Calibri"/>
                <a:cs typeface="Calibri"/>
              </a:rPr>
              <a:t>Field</a:t>
            </a:r>
            <a:r>
              <a:rPr dirty="0" sz="1400" spc="-20" b="1" i="1">
                <a:solidFill>
                  <a:srgbClr val="1A227D"/>
                </a:solidFill>
                <a:latin typeface="Calibri"/>
                <a:cs typeface="Calibri"/>
              </a:rPr>
              <a:t> Bean"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89377" y="4928742"/>
            <a:ext cx="299529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Course: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421-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AI/ML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Agriculture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8210" y="5631560"/>
            <a:ext cx="1857375" cy="2184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Submitted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by:</a:t>
            </a:r>
            <a:endParaRPr sz="1200">
              <a:latin typeface="Calibri"/>
              <a:cs typeface="Calibri"/>
            </a:endParaRPr>
          </a:p>
          <a:p>
            <a:pPr algn="ctr" marL="12700" marR="5080">
              <a:lnSpc>
                <a:spcPct val="1018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Darshan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Gouda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Patil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(BMB2015) </a:t>
            </a:r>
            <a:r>
              <a:rPr dirty="0" sz="1100">
                <a:latin typeface="Calibri"/>
                <a:cs typeface="Calibri"/>
              </a:rPr>
              <a:t>Ganesh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(AMB2073)</a:t>
            </a:r>
            <a:endParaRPr sz="11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20"/>
              </a:spcBef>
            </a:pPr>
            <a:r>
              <a:rPr dirty="0" sz="1100">
                <a:latin typeface="Calibri"/>
                <a:cs typeface="Calibri"/>
              </a:rPr>
              <a:t>Ramkumar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 P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(AMB2209)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100">
              <a:latin typeface="Calibri"/>
              <a:cs typeface="Calibri"/>
            </a:endParaRPr>
          </a:p>
          <a:p>
            <a:pPr algn="ctr" marL="353695" marR="346710" indent="-635">
              <a:lnSpc>
                <a:spcPct val="101899"/>
              </a:lnSpc>
            </a:pPr>
            <a:r>
              <a:rPr dirty="0" sz="1200" b="1">
                <a:latin typeface="Calibri"/>
                <a:cs typeface="Calibri"/>
              </a:rPr>
              <a:t>Submitted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to: </a:t>
            </a:r>
            <a:r>
              <a:rPr dirty="0" sz="1100">
                <a:latin typeface="Calibri"/>
                <a:cs typeface="Calibri"/>
              </a:rPr>
              <a:t>Course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Teacher </a:t>
            </a:r>
            <a:r>
              <a:rPr dirty="0" sz="1100">
                <a:latin typeface="Calibri"/>
                <a:cs typeface="Calibri"/>
              </a:rPr>
              <a:t>AI/ML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Agriculture</a:t>
            </a:r>
            <a:endParaRPr sz="11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25"/>
              </a:spcBef>
            </a:pPr>
            <a:r>
              <a:rPr dirty="0" sz="1100" spc="-10">
                <a:latin typeface="Calibri"/>
                <a:cs typeface="Calibri"/>
              </a:rPr>
              <a:t>COA,UAS(B),Bengaluru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100" b="1">
                <a:latin typeface="Calibri"/>
                <a:cs typeface="Calibri"/>
              </a:rPr>
              <a:t>Kharif</a:t>
            </a:r>
            <a:r>
              <a:rPr dirty="0" sz="1100" spc="-1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Season</a:t>
            </a:r>
            <a:r>
              <a:rPr dirty="0" sz="1100" spc="-30" b="1">
                <a:latin typeface="Calibri"/>
                <a:cs typeface="Calibri"/>
              </a:rPr>
              <a:t> </a:t>
            </a:r>
            <a:r>
              <a:rPr dirty="0" sz="1100" spc="-20" b="1">
                <a:latin typeface="Calibri"/>
                <a:cs typeface="Calibri"/>
              </a:rPr>
              <a:t>2024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7704" y="430783"/>
            <a:ext cx="6200140" cy="531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>
                <a:solidFill>
                  <a:srgbClr val="1B5E1F"/>
                </a:solidFill>
                <a:latin typeface="Calibri"/>
                <a:cs typeface="Calibri"/>
              </a:rPr>
              <a:t>Abstract</a:t>
            </a:r>
            <a:endParaRPr sz="1600">
              <a:latin typeface="Calibri"/>
              <a:cs typeface="Calibri"/>
            </a:endParaRPr>
          </a:p>
          <a:p>
            <a:pPr algn="just" marL="12700" marR="7620">
              <a:lnSpc>
                <a:spcPct val="135800"/>
              </a:lnSpc>
              <a:spcBef>
                <a:spcPts val="375"/>
              </a:spcBef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conducted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during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Kharif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season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2024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Zonal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Agricultural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Research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Station </a:t>
            </a:r>
            <a:r>
              <a:rPr dirty="0" sz="1100">
                <a:latin typeface="Calibri"/>
                <a:cs typeface="Calibri"/>
              </a:rPr>
              <a:t>(ZARS), GKVK,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Bengaluru,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red sandy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soil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medium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fertility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status.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study aimed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evaluate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effect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different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levels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Nitrogen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(N),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(P)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Potassium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(K)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yield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field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(Lablab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purpureus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L.)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variety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HA-</a:t>
            </a:r>
            <a:r>
              <a:rPr dirty="0" sz="1100" spc="-25">
                <a:latin typeface="Calibri"/>
                <a:cs typeface="Calibri"/>
              </a:rPr>
              <a:t>4.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experiment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laid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Randomized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Complete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Block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(RCBD)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with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five</a:t>
            </a:r>
            <a:r>
              <a:rPr dirty="0" sz="1100" spc="-10">
                <a:latin typeface="Calibri"/>
                <a:cs typeface="Calibri"/>
              </a:rPr>
              <a:t> treatment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levels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NPK</a:t>
            </a:r>
            <a:endParaRPr sz="1100">
              <a:latin typeface="Calibri"/>
              <a:cs typeface="Calibri"/>
            </a:endParaRPr>
          </a:p>
          <a:p>
            <a:pPr algn="just" marL="12700" marR="5715">
              <a:lnSpc>
                <a:spcPct val="135600"/>
              </a:lnSpc>
              <a:spcBef>
                <a:spcPts val="10"/>
              </a:spcBef>
            </a:pP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0%,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25%,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50%,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75%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Recommended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Fertilizers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(RDF)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replicated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gross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size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1m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×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1m.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Crop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sown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15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September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2024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45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×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15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harvested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4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January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2025.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5080">
              <a:lnSpc>
                <a:spcPct val="135600"/>
              </a:lnSpc>
            </a:pPr>
            <a:r>
              <a:rPr dirty="0" sz="1100">
                <a:latin typeface="Calibri"/>
                <a:cs typeface="Calibri"/>
              </a:rPr>
              <a:t>Results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revealed a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clear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positive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response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levels.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T5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(100%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RDF: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5.434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 urea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+</a:t>
            </a:r>
            <a:r>
              <a:rPr dirty="0" sz="1100">
                <a:latin typeface="Calibri"/>
                <a:cs typeface="Calibri"/>
              </a:rPr>
              <a:t> 31.2 g SSP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+ 4.16 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MOP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plot)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(29.3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 at 30 DAS; 57.0 cm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 60 </a:t>
            </a:r>
            <a:r>
              <a:rPr dirty="0" sz="1100" spc="-10">
                <a:latin typeface="Calibri"/>
                <a:cs typeface="Calibri"/>
              </a:rPr>
              <a:t>DAS), </a:t>
            </a:r>
            <a:r>
              <a:rPr dirty="0" sz="1100">
                <a:latin typeface="Calibri"/>
                <a:cs typeface="Calibri"/>
              </a:rPr>
              <a:t>maximum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branches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(7.8),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(70.50),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maximum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pod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(24.03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g).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T3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(50%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leaves.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study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concludes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most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effective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optimizing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 in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dryland </a:t>
            </a:r>
            <a:r>
              <a:rPr dirty="0" sz="1100">
                <a:latin typeface="Calibri"/>
                <a:cs typeface="Calibri"/>
              </a:rPr>
              <a:t>conditions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Eastern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Dry Zone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Karnataka.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9525">
              <a:lnSpc>
                <a:spcPct val="135500"/>
              </a:lnSpc>
            </a:pP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Keywords:</a:t>
            </a:r>
            <a:r>
              <a:rPr dirty="0" sz="1100" spc="65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Field</a:t>
            </a:r>
            <a:r>
              <a:rPr dirty="0" sz="1100" spc="65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bean,</a:t>
            </a:r>
            <a:r>
              <a:rPr dirty="0" sz="1100" spc="60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Lablab</a:t>
            </a:r>
            <a:r>
              <a:rPr dirty="0" sz="1100" spc="70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purpureus,</a:t>
            </a:r>
            <a:r>
              <a:rPr dirty="0" sz="1100" spc="60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NPK,</a:t>
            </a:r>
            <a:r>
              <a:rPr dirty="0" sz="1100" spc="60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RCBD,</a:t>
            </a:r>
            <a:r>
              <a:rPr dirty="0" sz="1100" spc="65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Recommended</a:t>
            </a:r>
            <a:r>
              <a:rPr dirty="0" sz="1100" spc="55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Dose</a:t>
            </a:r>
            <a:r>
              <a:rPr dirty="0" sz="1100" spc="75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of</a:t>
            </a:r>
            <a:r>
              <a:rPr dirty="0" sz="1100" spc="60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Fertilizer,</a:t>
            </a:r>
            <a:r>
              <a:rPr dirty="0" sz="1100" spc="60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Growth</a:t>
            </a:r>
            <a:r>
              <a:rPr dirty="0" sz="1100" spc="65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Calibri"/>
                <a:cs typeface="Calibri"/>
              </a:rPr>
              <a:t>parameters,</a:t>
            </a:r>
            <a:r>
              <a:rPr dirty="0" sz="1100" spc="-10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Yield</a:t>
            </a:r>
            <a:r>
              <a:rPr dirty="0" sz="1100" spc="-30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parameters,</a:t>
            </a:r>
            <a:r>
              <a:rPr dirty="0" sz="1100" spc="-35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444444"/>
                </a:solidFill>
                <a:latin typeface="Calibri"/>
                <a:cs typeface="Calibri"/>
              </a:rPr>
              <a:t>Kharif</a:t>
            </a:r>
            <a:r>
              <a:rPr dirty="0" sz="1100" spc="-40" i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444444"/>
                </a:solidFill>
                <a:latin typeface="Calibri"/>
                <a:cs typeface="Calibri"/>
              </a:rPr>
              <a:t>2024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7704" y="430783"/>
            <a:ext cx="6198235" cy="5993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solidFill>
                  <a:srgbClr val="1B5E1F"/>
                </a:solidFill>
                <a:latin typeface="Calibri"/>
                <a:cs typeface="Calibri"/>
              </a:rPr>
              <a:t>1.</a:t>
            </a:r>
            <a:r>
              <a:rPr dirty="0" sz="1600" spc="-15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5E1F"/>
                </a:solidFill>
                <a:latin typeface="Calibri"/>
                <a:cs typeface="Calibri"/>
              </a:rPr>
              <a:t>Introduction</a:t>
            </a:r>
            <a:endParaRPr sz="1600">
              <a:latin typeface="Calibri"/>
              <a:cs typeface="Calibri"/>
            </a:endParaRPr>
          </a:p>
          <a:p>
            <a:pPr algn="just" marL="12700" marR="5080">
              <a:lnSpc>
                <a:spcPct val="135700"/>
              </a:lnSpc>
              <a:spcBef>
                <a:spcPts val="375"/>
              </a:spcBef>
            </a:pP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(Lablab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purpureus L.),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belonging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family Fabaceae, is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 important </a:t>
            </a:r>
            <a:r>
              <a:rPr dirty="0" sz="1100" spc="-10">
                <a:latin typeface="Calibri"/>
                <a:cs typeface="Calibri"/>
              </a:rPr>
              <a:t>leguminous </a:t>
            </a:r>
            <a:r>
              <a:rPr dirty="0" sz="1100">
                <a:latin typeface="Calibri"/>
                <a:cs typeface="Calibri"/>
              </a:rPr>
              <a:t>vegetables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cultivated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India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South-East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Asia.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believed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Asian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origin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has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been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under </a:t>
            </a:r>
            <a:r>
              <a:rPr dirty="0" sz="1100">
                <a:latin typeface="Calibri"/>
                <a:cs typeface="Calibri"/>
              </a:rPr>
              <a:t>cultivation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since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ancient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times.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Wild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forms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widely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found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across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India,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making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one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oldest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cultivated </a:t>
            </a:r>
            <a:r>
              <a:rPr dirty="0" sz="1100">
                <a:latin typeface="Calibri"/>
                <a:cs typeface="Calibri"/>
              </a:rPr>
              <a:t>crops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Indian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subcontinent. 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Karnataka, field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grown either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sole crop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intercropped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with </a:t>
            </a:r>
            <a:r>
              <a:rPr dirty="0" sz="1100">
                <a:latin typeface="Calibri"/>
                <a:cs typeface="Calibri"/>
              </a:rPr>
              <a:t>cereals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finger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millet,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groundnut,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sorghum.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5080">
              <a:lnSpc>
                <a:spcPct val="135500"/>
              </a:lnSpc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crop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valued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vegetable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legume.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Immature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green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rich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protein,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minerals,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vitamins,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making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them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essential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component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subsistence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farming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diet.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dry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seeds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used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2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dal,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while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biomass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serves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fodder</a:t>
            </a:r>
            <a:r>
              <a:rPr dirty="0" sz="1100" spc="2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green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manure.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Despite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nutritional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27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agronomic </a:t>
            </a:r>
            <a:r>
              <a:rPr dirty="0" sz="1100">
                <a:latin typeface="Calibri"/>
                <a:cs typeface="Calibri"/>
              </a:rPr>
              <a:t>significance,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suffers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low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productivity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due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inadequate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fertilizer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lack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optimized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management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practices.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5715">
              <a:lnSpc>
                <a:spcPct val="135700"/>
              </a:lnSpc>
            </a:pP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(N)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3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3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essential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constituent</a:t>
            </a:r>
            <a:r>
              <a:rPr dirty="0" sz="1100" spc="2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proteins,</a:t>
            </a:r>
            <a:r>
              <a:rPr dirty="0" sz="1100" spc="3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chlorophyll,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nucleotides,</a:t>
            </a:r>
            <a:r>
              <a:rPr dirty="0" sz="1100" spc="3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phosphatides,</a:t>
            </a:r>
            <a:r>
              <a:rPr dirty="0" sz="1100" spc="3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alkaloids, </a:t>
            </a:r>
            <a:r>
              <a:rPr dirty="0" sz="1100">
                <a:latin typeface="Calibri"/>
                <a:cs typeface="Calibri"/>
              </a:rPr>
              <a:t>enzymes,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hormones,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vitamins.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imparts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dark-green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colour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plants,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promotes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rapid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early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improves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symbiotic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fixation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capacity.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(P)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component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nucleic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acids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plays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vital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role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stimulating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root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increasing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nodule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activity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legumes.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Potassium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(K)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regulates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osmotic </a:t>
            </a:r>
            <a:r>
              <a:rPr dirty="0" sz="1100">
                <a:latin typeface="Calibri"/>
                <a:cs typeface="Calibri"/>
              </a:rPr>
              <a:t>potential,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activates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enzymes,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improves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overall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metabolism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stress </a:t>
            </a:r>
            <a:r>
              <a:rPr dirty="0" sz="1100" spc="-10">
                <a:latin typeface="Calibri"/>
                <a:cs typeface="Calibri"/>
              </a:rPr>
              <a:t>tolerance.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6350">
              <a:lnSpc>
                <a:spcPct val="135800"/>
              </a:lnSpc>
            </a:pPr>
            <a:r>
              <a:rPr dirty="0" sz="1100">
                <a:latin typeface="Calibri"/>
                <a:cs typeface="Calibri"/>
              </a:rPr>
              <a:t>Given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critical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roles these macronutrients play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crop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 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essential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identify the optimum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dose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maximize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productivity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Eastern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Dry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Zone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conditions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Bengaluru.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present experiment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therefore conducted to study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effect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five graded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 (0%, 25%,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50%, </a:t>
            </a:r>
            <a:r>
              <a:rPr dirty="0" sz="1100">
                <a:latin typeface="Calibri"/>
                <a:cs typeface="Calibri"/>
              </a:rPr>
              <a:t>75%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variety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HA-4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during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Kharif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2024.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704" y="892810"/>
            <a:ext cx="6198870" cy="82175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14629" indent="-201930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214629" algn="l"/>
              </a:tabLst>
            </a:pPr>
            <a:r>
              <a:rPr dirty="0" sz="1600" b="1">
                <a:solidFill>
                  <a:srgbClr val="1B5E1F"/>
                </a:solidFill>
                <a:latin typeface="Calibri"/>
                <a:cs typeface="Calibri"/>
              </a:rPr>
              <a:t>Review</a:t>
            </a:r>
            <a:r>
              <a:rPr dirty="0" sz="1600" spc="-30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B5E1F"/>
                </a:solidFill>
                <a:latin typeface="Calibri"/>
                <a:cs typeface="Calibri"/>
              </a:rPr>
              <a:t>of</a:t>
            </a:r>
            <a:r>
              <a:rPr dirty="0" sz="1600" spc="-30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5E1F"/>
                </a:solidFill>
                <a:latin typeface="Calibri"/>
                <a:cs typeface="Calibri"/>
              </a:rPr>
              <a:t>Literature</a:t>
            </a:r>
            <a:endParaRPr sz="160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Nitrogen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endParaRPr sz="1300">
              <a:latin typeface="Calibri"/>
              <a:cs typeface="Calibri"/>
            </a:endParaRPr>
          </a:p>
          <a:p>
            <a:pPr algn="just" marL="12700" marR="7620">
              <a:lnSpc>
                <a:spcPct val="135500"/>
              </a:lnSpc>
              <a:spcBef>
                <a:spcPts val="165"/>
              </a:spcBef>
            </a:pPr>
            <a:r>
              <a:rPr dirty="0" sz="1100">
                <a:latin typeface="Calibri"/>
                <a:cs typeface="Calibri"/>
              </a:rPr>
              <a:t>Jaisankar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Manivannan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(2016)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reported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40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kg/ha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kg/ha </a:t>
            </a:r>
            <a:r>
              <a:rPr dirty="0" sz="1100">
                <a:latin typeface="Calibri"/>
                <a:cs typeface="Calibri"/>
              </a:rPr>
              <a:t>significantly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increased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(95.45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cm),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leaves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(75.04),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(8.93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t/ha)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field </a:t>
            </a:r>
            <a:r>
              <a:rPr dirty="0" sz="1100">
                <a:latin typeface="Calibri"/>
                <a:cs typeface="Calibri"/>
              </a:rPr>
              <a:t>bean.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findings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demonstrate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critical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vegetative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development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production.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5080">
              <a:lnSpc>
                <a:spcPct val="135700"/>
              </a:lnSpc>
            </a:pPr>
            <a:r>
              <a:rPr dirty="0" sz="1100">
                <a:latin typeface="Calibri"/>
                <a:cs typeface="Calibri"/>
              </a:rPr>
              <a:t>Hazra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Som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(1999)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reported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increasing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supply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substantially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improved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vegetative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biomass </a:t>
            </a:r>
            <a:r>
              <a:rPr dirty="0" sz="1100">
                <a:latin typeface="Calibri"/>
                <a:cs typeface="Calibri"/>
              </a:rPr>
              <a:t>accumulation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productivity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Dolichos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emphasizing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role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chlorophyll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synthesis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metabolic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enzyme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activity.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Further work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Anshuk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Ghosh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(2014)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confirmed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200%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produced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(86.88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cm),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leaves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(66.52),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branches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(8.98), </a:t>
            </a:r>
            <a:r>
              <a:rPr dirty="0" sz="1100">
                <a:latin typeface="Calibri"/>
                <a:cs typeface="Calibri"/>
              </a:rPr>
              <a:t>leaf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index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(5.95),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chlorophyll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(1.52)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bean.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10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buAutoNum type="arabicPeriod" startAt="2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Phosphorus</a:t>
            </a:r>
            <a:r>
              <a:rPr dirty="0" sz="1300" spc="-4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endParaRPr sz="1300">
              <a:latin typeface="Calibri"/>
              <a:cs typeface="Calibri"/>
            </a:endParaRPr>
          </a:p>
          <a:p>
            <a:pPr algn="just" marL="12700" marR="5080">
              <a:lnSpc>
                <a:spcPct val="135800"/>
              </a:lnSpc>
              <a:spcBef>
                <a:spcPts val="160"/>
              </a:spcBef>
            </a:pPr>
            <a:r>
              <a:rPr dirty="0" sz="1100">
                <a:latin typeface="Calibri"/>
                <a:cs typeface="Calibri"/>
              </a:rPr>
              <a:t>Sampika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et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al.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(2017)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reported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maximum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parameters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height,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primary </a:t>
            </a:r>
            <a:r>
              <a:rPr dirty="0" sz="1100">
                <a:latin typeface="Calibri"/>
                <a:cs typeface="Calibri"/>
              </a:rPr>
              <a:t>branches,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leaf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area,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dry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matter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content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higher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(75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kg/ha) </a:t>
            </a:r>
            <a:r>
              <a:rPr dirty="0" sz="1100">
                <a:latin typeface="Calibri"/>
                <a:cs typeface="Calibri"/>
              </a:rPr>
              <a:t>combined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(25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kg/ha)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potassium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(50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kg/ha).</a:t>
            </a:r>
            <a:r>
              <a:rPr dirty="0" sz="1100" spc="2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study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highlighted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phosphorus </a:t>
            </a:r>
            <a:r>
              <a:rPr dirty="0" sz="1100">
                <a:latin typeface="Calibri"/>
                <a:cs typeface="Calibri"/>
              </a:rPr>
              <a:t>promotes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division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enlargement.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6350">
              <a:lnSpc>
                <a:spcPct val="1358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Tiwari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Kumar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(2002)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demonstrated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P₂O₅/ha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significantly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improved </a:t>
            </a:r>
            <a:r>
              <a:rPr dirty="0" sz="1100">
                <a:latin typeface="Calibri"/>
                <a:cs typeface="Calibri"/>
              </a:rPr>
              <a:t>flowering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characteristics,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including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days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first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flowering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(32.23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DAS),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flowers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raceme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(15.79),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raceme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length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(52.80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cm)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bush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(2005)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attributed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improvement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metabolic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division,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development,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enlargement.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buAutoNum type="arabicPeriod" startAt="3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Potassium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endParaRPr sz="1300">
              <a:latin typeface="Calibri"/>
              <a:cs typeface="Calibri"/>
            </a:endParaRPr>
          </a:p>
          <a:p>
            <a:pPr algn="just" marL="12700" marR="5080">
              <a:lnSpc>
                <a:spcPct val="135800"/>
              </a:lnSpc>
              <a:spcBef>
                <a:spcPts val="160"/>
              </a:spcBef>
            </a:pPr>
            <a:r>
              <a:rPr dirty="0" sz="1100">
                <a:latin typeface="Calibri"/>
                <a:cs typeface="Calibri"/>
              </a:rPr>
              <a:t>Kharlamov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et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al.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(2017)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studied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response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planting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dosage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nutrient </a:t>
            </a:r>
            <a:r>
              <a:rPr dirty="0" sz="1100">
                <a:latin typeface="Calibri"/>
                <a:cs typeface="Calibri"/>
              </a:rPr>
              <a:t>uptake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Dolichos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significantly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enhanced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10">
                <a:latin typeface="Calibri"/>
                <a:cs typeface="Calibri"/>
              </a:rPr>
              <a:t> plant </a:t>
            </a:r>
            <a:r>
              <a:rPr dirty="0" sz="1100">
                <a:latin typeface="Calibri"/>
                <a:cs typeface="Calibri"/>
              </a:rPr>
              <a:t>(305.23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g)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hectare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(7.14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t/ha).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Saileela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al.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(2015)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reported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25">
                <a:latin typeface="Calibri"/>
                <a:cs typeface="Calibri"/>
              </a:rPr>
              <a:t> and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hectare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elevated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dosages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bush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bean.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buAutoNum type="arabicPeriod" startAt="4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Interaction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Effects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1300" spc="-4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endParaRPr sz="1300">
              <a:latin typeface="Calibri"/>
              <a:cs typeface="Calibri"/>
            </a:endParaRPr>
          </a:p>
          <a:p>
            <a:pPr algn="just" marL="12700" marR="6985">
              <a:lnSpc>
                <a:spcPct val="135700"/>
              </a:lnSpc>
              <a:spcBef>
                <a:spcPts val="16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combined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found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significantly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both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characters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Dolichos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bean.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enhances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symbiotic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fixation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improves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nutrient </a:t>
            </a:r>
            <a:r>
              <a:rPr dirty="0" sz="1100">
                <a:latin typeface="Calibri"/>
                <a:cs typeface="Calibri"/>
              </a:rPr>
              <a:t>uptake,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resulting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synergistic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overall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productivity.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Singh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Singh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(2004)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observed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improved </a:t>
            </a:r>
            <a:r>
              <a:rPr dirty="0" sz="1100">
                <a:latin typeface="Calibri"/>
                <a:cs typeface="Calibri"/>
              </a:rPr>
              <a:t>yield,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quality,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moisture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efficiency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legumes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optimized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combinations,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underlining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importance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balanced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fertilization.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7704" y="430783"/>
            <a:ext cx="5911850" cy="2542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3025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buAutoNum type="arabicPeriod" startAt="3"/>
              <a:tabLst>
                <a:tab pos="214629" algn="l"/>
              </a:tabLst>
            </a:pPr>
            <a:r>
              <a:rPr dirty="0" sz="1600" spc="-10" b="1">
                <a:solidFill>
                  <a:srgbClr val="1B5E1F"/>
                </a:solidFill>
                <a:latin typeface="Calibri"/>
                <a:cs typeface="Calibri"/>
              </a:rPr>
              <a:t>Objectives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specific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objectives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were:</a:t>
            </a:r>
            <a:endParaRPr sz="1100">
              <a:latin typeface="Calibri"/>
              <a:cs typeface="Calibri"/>
            </a:endParaRPr>
          </a:p>
          <a:p>
            <a:pPr lvl="1" marL="469900" marR="197485" indent="-228600">
              <a:lnSpc>
                <a:spcPct val="101800"/>
              </a:lnSpc>
              <a:spcBef>
                <a:spcPts val="75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study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vegetative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parameters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(plant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height,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branches,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leaves,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area)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90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DAS.</a:t>
            </a:r>
            <a:endParaRPr sz="1100">
              <a:latin typeface="Calibri"/>
              <a:cs typeface="Calibri"/>
            </a:endParaRPr>
          </a:p>
          <a:p>
            <a:pPr lvl="1" marL="469900" marR="5080" indent="-228600">
              <a:lnSpc>
                <a:spcPct val="101800"/>
              </a:lnSpc>
              <a:spcBef>
                <a:spcPts val="190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evaluate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impact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varying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parameters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(number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pod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plant)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accumulation.</a:t>
            </a:r>
            <a:endParaRPr sz="1100">
              <a:latin typeface="Calibri"/>
              <a:cs typeface="Calibri"/>
            </a:endParaRPr>
          </a:p>
          <a:p>
            <a:pPr lvl="1" marL="469900" marR="129539" indent="-228600">
              <a:lnSpc>
                <a:spcPct val="101800"/>
              </a:lnSpc>
              <a:spcBef>
                <a:spcPts val="19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identify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optimum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percentage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Recommended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Fertilizer)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that </a:t>
            </a:r>
            <a:r>
              <a:rPr dirty="0" sz="1100">
                <a:latin typeface="Calibri"/>
                <a:cs typeface="Calibri"/>
              </a:rPr>
              <a:t>produces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variety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HA-4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</a:t>
            </a:r>
            <a:r>
              <a:rPr dirty="0" sz="1100" spc="-10">
                <a:latin typeface="Calibri"/>
                <a:cs typeface="Calibri"/>
              </a:rPr>
              <a:t> dryland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conditions.</a:t>
            </a:r>
            <a:endParaRPr sz="1100">
              <a:latin typeface="Calibri"/>
              <a:cs typeface="Calibri"/>
            </a:endParaRPr>
          </a:p>
          <a:p>
            <a:pPr lvl="1" marL="469900" marR="374015" indent="-228600">
              <a:lnSpc>
                <a:spcPct val="101800"/>
              </a:lnSpc>
              <a:spcBef>
                <a:spcPts val="204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analyse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RCBD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statistical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analysis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determine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differences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among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treatments.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704" y="892810"/>
            <a:ext cx="6198870" cy="3553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14629" indent="-201930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214629" algn="l"/>
              </a:tabLst>
            </a:pPr>
            <a:r>
              <a:rPr dirty="0" sz="1600" b="1">
                <a:solidFill>
                  <a:srgbClr val="1B5E1F"/>
                </a:solidFill>
                <a:latin typeface="Calibri"/>
                <a:cs typeface="Calibri"/>
              </a:rPr>
              <a:t>Materials</a:t>
            </a:r>
            <a:r>
              <a:rPr dirty="0" sz="1600" spc="-15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B5E1F"/>
                </a:solidFill>
                <a:latin typeface="Calibri"/>
                <a:cs typeface="Calibri"/>
              </a:rPr>
              <a:t>and</a:t>
            </a:r>
            <a:r>
              <a:rPr dirty="0" sz="1600" spc="-5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5E1F"/>
                </a:solidFill>
                <a:latin typeface="Calibri"/>
                <a:cs typeface="Calibri"/>
              </a:rPr>
              <a:t>Methods</a:t>
            </a:r>
            <a:endParaRPr sz="160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59715" algn="l"/>
              </a:tabLst>
            </a:pP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Experimental</a:t>
            </a:r>
            <a:r>
              <a:rPr dirty="0" sz="1300" spc="1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Site</a:t>
            </a:r>
            <a:endParaRPr sz="1300">
              <a:latin typeface="Calibri"/>
              <a:cs typeface="Calibri"/>
            </a:endParaRPr>
          </a:p>
          <a:p>
            <a:pPr algn="just" marL="12700" marR="6350">
              <a:lnSpc>
                <a:spcPct val="135800"/>
              </a:lnSpc>
              <a:spcBef>
                <a:spcPts val="16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field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experiment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was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conducted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Agronomy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Unit,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E-4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Block,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Zonal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Agricultural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Research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Station (ZARS),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GKVK,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Bengaluru,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located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Eastern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Zone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(Zone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5)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Karnataka.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geographical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coordinates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experimental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Latitude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13°05"N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Longitude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77°34"E,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elevation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approximately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930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m</a:t>
            </a:r>
            <a:r>
              <a:rPr dirty="0" sz="1100">
                <a:latin typeface="Calibri"/>
                <a:cs typeface="Calibri"/>
              </a:rPr>
              <a:t> above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level.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10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buAutoNum type="arabicPeriod" startAt="2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Soil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and</a:t>
            </a:r>
            <a:r>
              <a:rPr dirty="0" sz="1300" spc="-1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Physico-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Chemical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Properties</a:t>
            </a:r>
            <a:endParaRPr sz="1300">
              <a:latin typeface="Calibri"/>
              <a:cs typeface="Calibri"/>
            </a:endParaRPr>
          </a:p>
          <a:p>
            <a:pPr algn="just" marL="12700" marR="5080">
              <a:lnSpc>
                <a:spcPct val="135700"/>
              </a:lnSpc>
              <a:spcBef>
                <a:spcPts val="16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experimental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soil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red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sandy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loam,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well-drained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medium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available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status.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soil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was </a:t>
            </a:r>
            <a:r>
              <a:rPr dirty="0" sz="1100">
                <a:latin typeface="Calibri"/>
                <a:cs typeface="Calibri"/>
              </a:rPr>
              <a:t>typical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Eastern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Zone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suitable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leguminous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crop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cultivation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during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Kharif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season.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buAutoNum type="arabicPeriod" startAt="3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Climatic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Conditions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and</a:t>
            </a:r>
            <a:r>
              <a:rPr dirty="0" sz="1300" spc="-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Meteorological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 Data</a:t>
            </a:r>
            <a:endParaRPr sz="1300">
              <a:latin typeface="Calibri"/>
              <a:cs typeface="Calibri"/>
            </a:endParaRPr>
          </a:p>
          <a:p>
            <a:pPr algn="just" marL="12700" marR="5080">
              <a:lnSpc>
                <a:spcPct val="135500"/>
              </a:lnSpc>
              <a:spcBef>
                <a:spcPts val="180"/>
              </a:spcBef>
            </a:pPr>
            <a:r>
              <a:rPr dirty="0" sz="1100">
                <a:latin typeface="Calibri"/>
                <a:cs typeface="Calibri"/>
              </a:rPr>
              <a:t>Monthly</a:t>
            </a:r>
            <a:r>
              <a:rPr dirty="0" sz="1100" spc="4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meteorological</a:t>
            </a:r>
            <a:r>
              <a:rPr dirty="0" sz="1100" spc="4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4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4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45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experimental</a:t>
            </a:r>
            <a:r>
              <a:rPr dirty="0" sz="1100" spc="4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period</a:t>
            </a:r>
            <a:r>
              <a:rPr dirty="0" sz="1100" spc="4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4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obtained</a:t>
            </a:r>
            <a:r>
              <a:rPr dirty="0" sz="1100" spc="4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4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4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Department</a:t>
            </a:r>
            <a:r>
              <a:rPr dirty="0" sz="1100" spc="44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Agrometeorology,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GKVK,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Bengaluru.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below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summarizes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weather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conditions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during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crop </a:t>
            </a:r>
            <a:r>
              <a:rPr dirty="0" sz="1100" spc="-10">
                <a:latin typeface="Calibri"/>
                <a:cs typeface="Calibri"/>
              </a:rPr>
              <a:t>season: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0404" y="4796663"/>
          <a:ext cx="6052820" cy="1450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635"/>
                <a:gridCol w="1396365"/>
                <a:gridCol w="1588135"/>
                <a:gridCol w="1588135"/>
              </a:tblGrid>
              <a:tr h="263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Month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Rainfall</a:t>
                      </a:r>
                      <a:r>
                        <a:rPr dirty="0" sz="10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(mm)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Max</a:t>
                      </a:r>
                      <a:r>
                        <a:rPr dirty="0" sz="10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10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(°C)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Min</a:t>
                      </a:r>
                      <a:r>
                        <a:rPr dirty="0" sz="10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10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(°C)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September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33.6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29.4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October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585.4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28.6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November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28.1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December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54.2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26.9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Mean/Total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721.2*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19.4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525269" y="6236588"/>
            <a:ext cx="471868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1: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Monthly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Meteorological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Data</a:t>
            </a:r>
            <a:r>
              <a:rPr dirty="0" sz="950" spc="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–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GKVK,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Bengaluru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(Kharif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2024).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*Indicates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total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rainfall.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704" y="3697350"/>
            <a:ext cx="5112385" cy="521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9601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Fig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7: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Monthly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Rainfall</a:t>
            </a:r>
            <a:r>
              <a:rPr dirty="0" sz="950" spc="-3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Distribution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Experimental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Site</a:t>
            </a:r>
            <a:r>
              <a:rPr dirty="0" sz="950" spc="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–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GKVK,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Bengaluru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(2024)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4.4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 Experimental</a:t>
            </a:r>
            <a:r>
              <a:rPr dirty="0" sz="1300" spc="-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Details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0404" y="4292219"/>
          <a:ext cx="6052820" cy="2399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0635"/>
                <a:gridCol w="3429635"/>
              </a:tblGrid>
              <a:tr h="263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Particulars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Details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Crop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Field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bean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(Lablab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purpureus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L.)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Variety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HA-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Season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Kharif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2024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Spacing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45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×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15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cm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Gross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Plot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Size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×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Treatments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Replications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Experiment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Randomized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Complete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Block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(RCBD)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Location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Agronomy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Field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Unit,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E-4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Block,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GKVK,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Bengaluru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7704" y="6681596"/>
            <a:ext cx="6199505" cy="997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2: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Experimental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Details</a:t>
            </a:r>
            <a:r>
              <a:rPr dirty="0" sz="950" spc="-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–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Field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Bean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Kharif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2024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4.5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Treatment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Details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5500"/>
              </a:lnSpc>
              <a:spcBef>
                <a:spcPts val="17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experiment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comprised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five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treatment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levels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NPK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percentages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Recommended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Dose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Fertilizer (RDF):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00404" y="8031225"/>
          <a:ext cx="5734685" cy="974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8365"/>
                <a:gridCol w="1523999"/>
                <a:gridCol w="1080135"/>
                <a:gridCol w="1078229"/>
                <a:gridCol w="1078864"/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Treatment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Treatment</a:t>
                      </a:r>
                      <a:r>
                        <a:rPr dirty="0" sz="10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Details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Urea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(g/plot)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SSP</a:t>
                      </a:r>
                      <a:r>
                        <a:rPr dirty="0" sz="10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(g/plot)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MOP</a:t>
                      </a:r>
                      <a:r>
                        <a:rPr dirty="0" sz="10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(g/plot)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RDF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(Control)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0.000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25%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RDF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1.358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1.04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50%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RDF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2.715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15.6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2.08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4726" y="971158"/>
            <a:ext cx="5426331" cy="262981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0404" y="914400"/>
          <a:ext cx="5734685" cy="738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8365"/>
                <a:gridCol w="1523999"/>
                <a:gridCol w="1080135"/>
                <a:gridCol w="1078229"/>
                <a:gridCol w="1078864"/>
              </a:tblGrid>
              <a:tr h="263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Treatment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Treatment</a:t>
                      </a:r>
                      <a:r>
                        <a:rPr dirty="0" sz="10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Details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Urea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(g/plot)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SSP</a:t>
                      </a:r>
                      <a:r>
                        <a:rPr dirty="0" sz="10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(g/plot)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MOP</a:t>
                      </a:r>
                      <a:r>
                        <a:rPr dirty="0" sz="10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(g/plot)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75%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RDF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4.070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23.4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3.12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100%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RDF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5.434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31.2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4.16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7704" y="1641094"/>
            <a:ext cx="6196330" cy="996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3: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Treatment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Details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with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Fertilizer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Quantities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per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Plot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4.6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Experimental</a:t>
            </a:r>
            <a:r>
              <a:rPr dirty="0" sz="1300" spc="-1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Layout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(RCBD)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6400"/>
              </a:lnSpc>
              <a:spcBef>
                <a:spcPts val="14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laid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RCBD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4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replications.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randomization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pattern</a:t>
            </a:r>
            <a:r>
              <a:rPr dirty="0" sz="1100" spc="-10">
                <a:latin typeface="Calibri"/>
                <a:cs typeface="Calibri"/>
              </a:rPr>
              <a:t> across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replications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follows: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00404" y="2988817"/>
          <a:ext cx="6027420" cy="1449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5900"/>
                <a:gridCol w="1486535"/>
                <a:gridCol w="1486535"/>
                <a:gridCol w="1486535"/>
              </a:tblGrid>
              <a:tr h="263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Replication</a:t>
                      </a:r>
                      <a:r>
                        <a:rPr dirty="0" sz="1000" spc="-50" b="1">
                          <a:latin typeface="Calibri"/>
                          <a:cs typeface="Calibri"/>
                        </a:rPr>
                        <a:t> 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Replication</a:t>
                      </a:r>
                      <a:r>
                        <a:rPr dirty="0" sz="1000" spc="-50" b="1">
                          <a:latin typeface="Calibri"/>
                          <a:cs typeface="Calibri"/>
                        </a:rPr>
                        <a:t> 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Replication</a:t>
                      </a:r>
                      <a:r>
                        <a:rPr dirty="0" sz="1000" spc="-50" b="1">
                          <a:latin typeface="Calibri"/>
                          <a:cs typeface="Calibri"/>
                        </a:rPr>
                        <a:t> 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Replication</a:t>
                      </a:r>
                      <a:r>
                        <a:rPr dirty="0" sz="1000" spc="-50" b="1">
                          <a:latin typeface="Calibri"/>
                          <a:cs typeface="Calibri"/>
                        </a:rPr>
                        <a:t> 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T2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87704" y="4427346"/>
            <a:ext cx="6200775" cy="468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4: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RCBD Layout</a:t>
            </a:r>
            <a:r>
              <a:rPr dirty="0" sz="950" spc="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–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Randomization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of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Treatments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across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Replications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4.7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Cultural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Practices</a:t>
            </a:r>
            <a:endParaRPr sz="1300">
              <a:latin typeface="Calibri"/>
              <a:cs typeface="Calibri"/>
            </a:endParaRPr>
          </a:p>
          <a:p>
            <a:pPr algn="just" marL="12700" marR="6350">
              <a:lnSpc>
                <a:spcPct val="135500"/>
              </a:lnSpc>
              <a:spcBef>
                <a:spcPts val="150"/>
              </a:spcBef>
            </a:pPr>
            <a:r>
              <a:rPr dirty="0" sz="1100">
                <a:latin typeface="Calibri"/>
                <a:cs typeface="Calibri"/>
              </a:rPr>
              <a:t>Land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Preparation: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experimental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land was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ploughed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tractor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disc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plough,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passage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type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harrow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bring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soil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fine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tilth.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land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levelled,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small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bunds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raised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around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plot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prevent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water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movement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between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plots.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8890">
              <a:lnSpc>
                <a:spcPct val="135500"/>
              </a:lnSpc>
            </a:pPr>
            <a:r>
              <a:rPr dirty="0" sz="1100">
                <a:latin typeface="Calibri"/>
                <a:cs typeface="Calibri"/>
              </a:rPr>
              <a:t>Sowing: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Seeds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variety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HA-</a:t>
            </a:r>
            <a:r>
              <a:rPr dirty="0" sz="1100">
                <a:latin typeface="Calibri"/>
                <a:cs typeface="Calibri"/>
              </a:rPr>
              <a:t>4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sown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line-</a:t>
            </a:r>
            <a:r>
              <a:rPr dirty="0" sz="1100">
                <a:latin typeface="Calibri"/>
                <a:cs typeface="Calibri"/>
              </a:rPr>
              <a:t>sowing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method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15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September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2024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spacing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45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×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15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8–</a:t>
            </a:r>
            <a:r>
              <a:rPr dirty="0" sz="1100">
                <a:latin typeface="Calibri"/>
                <a:cs typeface="Calibri"/>
              </a:rPr>
              <a:t>10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kg/ha.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5080">
              <a:lnSpc>
                <a:spcPct val="135500"/>
              </a:lnSpc>
            </a:pPr>
            <a:r>
              <a:rPr dirty="0" sz="1100">
                <a:latin typeface="Calibri"/>
                <a:cs typeface="Calibri"/>
              </a:rPr>
              <a:t>Fertilizer</a:t>
            </a:r>
            <a:r>
              <a:rPr dirty="0" sz="1100" spc="3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Application: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Nitrogen,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phosphorus,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3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potassium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applied</a:t>
            </a:r>
            <a:r>
              <a:rPr dirty="0" sz="1100" spc="3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urea,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SSP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(Single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Super </a:t>
            </a:r>
            <a:r>
              <a:rPr dirty="0" sz="1100">
                <a:latin typeface="Calibri"/>
                <a:cs typeface="Calibri"/>
              </a:rPr>
              <a:t>Phosphate),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MOP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(Muriate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Potash)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respectively,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details.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Fertilizers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band-placed </a:t>
            </a:r>
            <a:r>
              <a:rPr dirty="0" sz="1100">
                <a:latin typeface="Calibri"/>
                <a:cs typeface="Calibri"/>
              </a:rPr>
              <a:t>5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away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row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incorporated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thoroughly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soil.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6350">
              <a:lnSpc>
                <a:spcPct val="135900"/>
              </a:lnSpc>
            </a:pPr>
            <a:r>
              <a:rPr dirty="0" sz="1100">
                <a:latin typeface="Calibri"/>
                <a:cs typeface="Calibri"/>
              </a:rPr>
              <a:t>Weed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Management: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Weeds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removed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periodically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tools.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Critical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crop-</a:t>
            </a:r>
            <a:r>
              <a:rPr dirty="0" sz="1100">
                <a:latin typeface="Calibri"/>
                <a:cs typeface="Calibri"/>
              </a:rPr>
              <a:t>weed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competition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was </a:t>
            </a:r>
            <a:r>
              <a:rPr dirty="0" sz="1100">
                <a:latin typeface="Calibri"/>
                <a:cs typeface="Calibri"/>
              </a:rPr>
              <a:t>observed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during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initial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germination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establishment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phase.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First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weeding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done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03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October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2024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second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weeding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October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2024.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10160">
              <a:lnSpc>
                <a:spcPct val="1355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Water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Management: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Frequent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irrigations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during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germination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establishment.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Water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was </a:t>
            </a:r>
            <a:r>
              <a:rPr dirty="0" sz="1100">
                <a:latin typeface="Calibri"/>
                <a:cs typeface="Calibri"/>
              </a:rPr>
              <a:t>supplied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nearby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tanks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buckets.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irrigated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required.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704" y="1070203"/>
            <a:ext cx="6193790" cy="1641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715">
              <a:lnSpc>
                <a:spcPct val="135500"/>
              </a:lnSpc>
              <a:spcBef>
                <a:spcPts val="95"/>
              </a:spcBef>
            </a:pPr>
            <a:r>
              <a:rPr dirty="0" sz="1100">
                <a:latin typeface="Calibri"/>
                <a:cs typeface="Calibri"/>
              </a:rPr>
              <a:t>Tagging: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Plants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tagged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18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October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2024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recording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biometric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observations,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coinciding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date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fertilizer</a:t>
            </a:r>
            <a:r>
              <a:rPr dirty="0" sz="1100" spc="-10">
                <a:latin typeface="Calibri"/>
                <a:cs typeface="Calibri"/>
              </a:rPr>
              <a:t> application.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35500"/>
              </a:lnSpc>
            </a:pPr>
            <a:r>
              <a:rPr dirty="0" sz="1100">
                <a:latin typeface="Calibri"/>
                <a:cs typeface="Calibri"/>
              </a:rPr>
              <a:t>Thinning: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First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thinning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performed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01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October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2024,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second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thinning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October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2024,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maintain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desired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population.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4.8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Calendar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Operations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0404" y="2786126"/>
          <a:ext cx="6027420" cy="2161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2435"/>
                <a:gridCol w="2972435"/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Activity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20" b="1">
                          <a:latin typeface="Calibri"/>
                          <a:cs typeface="Calibri"/>
                        </a:rPr>
                        <a:t>Date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Land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Preparation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12</a:t>
                      </a:r>
                      <a:r>
                        <a:rPr dirty="0" sz="1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September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2024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Date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Sowing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15</a:t>
                      </a:r>
                      <a:r>
                        <a:rPr dirty="0" sz="1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September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2024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First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Thinning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01</a:t>
                      </a:r>
                      <a:r>
                        <a:rPr dirty="0" sz="1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October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2024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Second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Thinning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1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October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2024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First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Weeding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03</a:t>
                      </a:r>
                      <a:r>
                        <a:rPr dirty="0" sz="1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October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2024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Tagging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Fertilizer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Application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18</a:t>
                      </a:r>
                      <a:r>
                        <a:rPr dirty="0" sz="1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October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2024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Second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Weeding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30</a:t>
                      </a:r>
                      <a:r>
                        <a:rPr dirty="0" sz="1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October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2024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Harvest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04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January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2025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7704" y="4937886"/>
            <a:ext cx="6198235" cy="40500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5: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Calendar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of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Events</a:t>
            </a:r>
            <a:r>
              <a:rPr dirty="0" sz="950" spc="-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–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Field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Bean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Kharif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2024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Calibri"/>
              <a:cs typeface="Calibri"/>
            </a:endParaRPr>
          </a:p>
          <a:p>
            <a:pPr lvl="1" marL="259715" indent="-247015">
              <a:lnSpc>
                <a:spcPct val="100000"/>
              </a:lnSpc>
              <a:buAutoNum type="arabicPeriod" startAt="9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Observations</a:t>
            </a:r>
            <a:r>
              <a:rPr dirty="0" sz="1300" spc="-6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Recorded</a:t>
            </a:r>
            <a:endParaRPr sz="1300">
              <a:latin typeface="Calibri"/>
              <a:cs typeface="Calibri"/>
            </a:endParaRPr>
          </a:p>
          <a:p>
            <a:pPr lvl="2" marL="386715" indent="-374015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386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Parameters</a:t>
            </a:r>
            <a:endParaRPr sz="1300">
              <a:latin typeface="Calibri"/>
              <a:cs typeface="Calibri"/>
            </a:endParaRPr>
          </a:p>
          <a:p>
            <a:pPr marL="12700" marR="10160">
              <a:lnSpc>
                <a:spcPct val="135500"/>
              </a:lnSpc>
              <a:spcBef>
                <a:spcPts val="160"/>
              </a:spcBef>
            </a:pPr>
            <a:r>
              <a:rPr dirty="0" sz="1100">
                <a:latin typeface="Calibri"/>
                <a:cs typeface="Calibri"/>
              </a:rPr>
              <a:t>Biometric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observations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 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minimum 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randomly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selected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tagged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 at </a:t>
            </a:r>
            <a:r>
              <a:rPr dirty="0" sz="1100" spc="-25">
                <a:latin typeface="Calibri"/>
                <a:cs typeface="Calibri"/>
              </a:rPr>
              <a:t>30, </a:t>
            </a:r>
            <a:r>
              <a:rPr dirty="0" sz="1100">
                <a:latin typeface="Calibri"/>
                <a:cs typeface="Calibri"/>
              </a:rPr>
              <a:t>60,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90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days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sowing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(DAS).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parameters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measured: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59100"/>
              </a:lnSpc>
            </a:pP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Measured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ground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shoot;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calculated. Number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Leaves: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leaves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tagged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plants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were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counted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and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average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number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per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plant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was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computed.</a:t>
            </a:r>
            <a:endParaRPr sz="1100">
              <a:latin typeface="Calibri"/>
              <a:cs typeface="Calibri"/>
            </a:endParaRPr>
          </a:p>
          <a:p>
            <a:pPr marL="12700" marR="9525">
              <a:lnSpc>
                <a:spcPct val="135700"/>
              </a:lnSpc>
              <a:spcBef>
                <a:spcPts val="300"/>
              </a:spcBef>
            </a:pP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Branches: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Total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branches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branches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counted;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average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branches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was </a:t>
            </a:r>
            <a:r>
              <a:rPr dirty="0" sz="1100">
                <a:latin typeface="Calibri"/>
                <a:cs typeface="Calibri"/>
              </a:rPr>
              <a:t>worked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out.</a:t>
            </a:r>
            <a:endParaRPr sz="1100">
              <a:latin typeface="Calibri"/>
              <a:cs typeface="Calibri"/>
            </a:endParaRPr>
          </a:p>
          <a:p>
            <a:pPr marL="12700" marR="9525">
              <a:lnSpc>
                <a:spcPct val="135500"/>
              </a:lnSpc>
              <a:spcBef>
                <a:spcPts val="295"/>
              </a:spcBef>
            </a:pPr>
            <a:r>
              <a:rPr dirty="0" sz="1100">
                <a:latin typeface="Calibri"/>
                <a:cs typeface="Calibri"/>
              </a:rPr>
              <a:t>Leaf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Plant: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Calculated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multiplying leaf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length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×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width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×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correction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factor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×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 leaves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per </a:t>
            </a:r>
            <a:r>
              <a:rPr dirty="0" sz="1100">
                <a:latin typeface="Calibri"/>
                <a:cs typeface="Calibri"/>
              </a:rPr>
              <a:t>plant.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Average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then</a:t>
            </a:r>
            <a:r>
              <a:rPr dirty="0" sz="1100" spc="-10">
                <a:latin typeface="Calibri"/>
                <a:cs typeface="Calibri"/>
              </a:rPr>
              <a:t> computed.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Calibri"/>
              <a:cs typeface="Calibri"/>
            </a:endParaRPr>
          </a:p>
          <a:p>
            <a:pPr lvl="2" marL="386715" indent="-374015">
              <a:lnSpc>
                <a:spcPct val="100000"/>
              </a:lnSpc>
              <a:buAutoNum type="arabicPeriod" startAt="2"/>
              <a:tabLst>
                <a:tab pos="386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1300" spc="-5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Parameters</a:t>
            </a:r>
            <a:endParaRPr sz="1300">
              <a:latin typeface="Calibri"/>
              <a:cs typeface="Calibri"/>
            </a:endParaRPr>
          </a:p>
          <a:p>
            <a:pPr marL="12700" marR="8255">
              <a:lnSpc>
                <a:spcPts val="2090"/>
              </a:lnSpc>
            </a:pP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randomly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labelled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experimental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harvest.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five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labelled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weighed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average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calculated.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7704" y="430783"/>
            <a:ext cx="6200775" cy="5004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900">
              <a:latin typeface="Calibri"/>
              <a:cs typeface="Calibri"/>
            </a:endParaRPr>
          </a:p>
          <a:p>
            <a:pPr marL="12700" marR="12700">
              <a:lnSpc>
                <a:spcPct val="135500"/>
              </a:lnSpc>
            </a:pPr>
            <a:r>
              <a:rPr dirty="0" sz="1100">
                <a:latin typeface="Calibri"/>
                <a:cs typeface="Calibri"/>
              </a:rPr>
              <a:t>Seed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 per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Plant: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pods from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five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labelled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threshed,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cleaned,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seeds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counted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 spc="-10">
                <a:latin typeface="Calibri"/>
                <a:cs typeface="Calibri"/>
              </a:rPr>
              <a:t>weighed.</a:t>
            </a:r>
            <a:endParaRPr sz="1100">
              <a:latin typeface="Calibri"/>
              <a:cs typeface="Calibri"/>
            </a:endParaRPr>
          </a:p>
          <a:p>
            <a:pPr marL="12700" marR="8255">
              <a:lnSpc>
                <a:spcPct val="136400"/>
              </a:lnSpc>
              <a:spcBef>
                <a:spcPts val="290"/>
              </a:spcBef>
            </a:pPr>
            <a:r>
              <a:rPr dirty="0" sz="1100">
                <a:latin typeface="Calibri"/>
                <a:cs typeface="Calibri"/>
              </a:rPr>
              <a:t>Biomass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twice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harvesting,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fresh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biomass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each </a:t>
            </a:r>
            <a:r>
              <a:rPr dirty="0" sz="1100">
                <a:latin typeface="Calibri"/>
                <a:cs typeface="Calibri"/>
              </a:rPr>
              <a:t>block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recorded.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100">
                <a:latin typeface="Calibri"/>
                <a:cs typeface="Calibri"/>
              </a:rPr>
              <a:t>Harvest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Index: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Calculated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(Economic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/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Biological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yield)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×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Donald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(1962).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Calibri"/>
              <a:cs typeface="Calibri"/>
            </a:endParaRPr>
          </a:p>
          <a:p>
            <a:pPr algn="just" lvl="1" marL="343535" indent="-330835">
              <a:lnSpc>
                <a:spcPct val="100000"/>
              </a:lnSpc>
              <a:spcBef>
                <a:spcPts val="5"/>
              </a:spcBef>
              <a:buAutoNum type="arabicPeriod" startAt="10"/>
              <a:tabLst>
                <a:tab pos="34353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System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Architecture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the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Experiment</a:t>
            </a:r>
            <a:endParaRPr sz="1300">
              <a:latin typeface="Calibri"/>
              <a:cs typeface="Calibri"/>
            </a:endParaRPr>
          </a:p>
          <a:p>
            <a:pPr algn="just" marL="12700" marR="5080">
              <a:lnSpc>
                <a:spcPct val="135700"/>
              </a:lnSpc>
              <a:spcBef>
                <a:spcPts val="16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experimental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system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structured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follows: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Five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applied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across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four </a:t>
            </a:r>
            <a:r>
              <a:rPr dirty="0" sz="1100">
                <a:latin typeface="Calibri"/>
                <a:cs typeface="Calibri"/>
              </a:rPr>
              <a:t>replications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randomized block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design. Each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(1m×1m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plot)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received its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designated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NPK </a:t>
            </a:r>
            <a:r>
              <a:rPr dirty="0" sz="1100">
                <a:latin typeface="Calibri"/>
                <a:cs typeface="Calibri"/>
              </a:rPr>
              <a:t>dose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through band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placement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Urea, SSP,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MOP.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observations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60, 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90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tagged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plants.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observations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harvest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(113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DAS).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plots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were </a:t>
            </a:r>
            <a:r>
              <a:rPr dirty="0" sz="1100">
                <a:latin typeface="Calibri"/>
                <a:cs typeface="Calibri"/>
              </a:rPr>
              <a:t>compiled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subjected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RCBD-</a:t>
            </a:r>
            <a:r>
              <a:rPr dirty="0" sz="1100">
                <a:latin typeface="Calibri"/>
                <a:cs typeface="Calibri"/>
              </a:rPr>
              <a:t>based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ANOVA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standard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statistical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procedures.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were </a:t>
            </a:r>
            <a:r>
              <a:rPr dirty="0" sz="1100">
                <a:latin typeface="Calibri"/>
                <a:cs typeface="Calibri"/>
              </a:rPr>
              <a:t>compared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(Critical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Difference)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values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5% probability</a:t>
            </a:r>
            <a:r>
              <a:rPr dirty="0" sz="1100" spc="-10">
                <a:latin typeface="Calibri"/>
                <a:cs typeface="Calibri"/>
              </a:rPr>
              <a:t> level.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Calibri"/>
              <a:cs typeface="Calibri"/>
            </a:endParaRPr>
          </a:p>
          <a:p>
            <a:pPr algn="just" lvl="1" marL="343535" indent="-330835">
              <a:lnSpc>
                <a:spcPct val="100000"/>
              </a:lnSpc>
              <a:buAutoNum type="arabicPeriod" startAt="11"/>
              <a:tabLst>
                <a:tab pos="34353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Statistical</a:t>
            </a:r>
            <a:r>
              <a:rPr dirty="0" sz="1300" spc="-7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Analysis</a:t>
            </a:r>
            <a:endParaRPr sz="1300">
              <a:latin typeface="Calibri"/>
              <a:cs typeface="Calibri"/>
            </a:endParaRPr>
          </a:p>
          <a:p>
            <a:pPr algn="just" marL="12700" marR="5080">
              <a:lnSpc>
                <a:spcPct val="135500"/>
              </a:lnSpc>
              <a:spcBef>
                <a:spcPts val="17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experimental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collected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various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parameters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subjected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Analysis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Variance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(ANOVA)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RCBD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method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described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Gomez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Gomez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(1984).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means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compared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Critical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Difference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(CD)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=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0.05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level.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Standard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Error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Mean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(SE[m])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Standard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Error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Difference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(SE[d])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computed.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character,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F-calculated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value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was </a:t>
            </a:r>
            <a:r>
              <a:rPr dirty="0" sz="1100">
                <a:latin typeface="Calibri"/>
                <a:cs typeface="Calibri"/>
              </a:rPr>
              <a:t>compared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against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tabular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F-value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determine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statistical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significance.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704" y="892810"/>
            <a:ext cx="6196965" cy="1454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214629" algn="l"/>
              </a:tabLst>
            </a:pPr>
            <a:r>
              <a:rPr dirty="0" sz="1600" b="1">
                <a:solidFill>
                  <a:srgbClr val="1B5E1F"/>
                </a:solidFill>
                <a:latin typeface="Calibri"/>
                <a:cs typeface="Calibri"/>
              </a:rPr>
              <a:t>Experimental</a:t>
            </a:r>
            <a:r>
              <a:rPr dirty="0" sz="1600" spc="-70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5E1F"/>
                </a:solidFill>
                <a:latin typeface="Calibri"/>
                <a:cs typeface="Calibri"/>
              </a:rPr>
              <a:t>Results</a:t>
            </a:r>
            <a:endParaRPr sz="1600">
              <a:latin typeface="Calibri"/>
              <a:cs typeface="Calibri"/>
            </a:endParaRPr>
          </a:p>
          <a:p>
            <a:pPr lvl="1" marL="259715" indent="-24701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Parameters</a:t>
            </a:r>
            <a:endParaRPr sz="1300">
              <a:latin typeface="Calibri"/>
              <a:cs typeface="Calibri"/>
            </a:endParaRPr>
          </a:p>
          <a:p>
            <a:pPr lvl="2" marL="386715" indent="-374015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386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Plant</a:t>
            </a:r>
            <a:r>
              <a:rPr dirty="0" sz="1300" spc="-4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Height</a:t>
            </a:r>
            <a:r>
              <a:rPr dirty="0" sz="1300" spc="-4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(cm)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5500"/>
              </a:lnSpc>
              <a:spcBef>
                <a:spcPts val="165"/>
              </a:spcBef>
            </a:pP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90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across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replications.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progressive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observed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stages.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0404" y="2699257"/>
          <a:ext cx="5798820" cy="2079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865"/>
                <a:gridCol w="1080770"/>
                <a:gridCol w="697864"/>
                <a:gridCol w="1078864"/>
                <a:gridCol w="699135"/>
                <a:gridCol w="1078864"/>
              </a:tblGrid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Treatment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marL="420370" marR="108585" indent="-306705">
                        <a:lnSpc>
                          <a:spcPct val="102000"/>
                        </a:lnSpc>
                        <a:spcBef>
                          <a:spcPts val="355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Mean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30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latin typeface="Calibri"/>
                          <a:cs typeface="Calibri"/>
                        </a:rPr>
                        <a:t>DAS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(cm)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SE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marL="420370" marR="106680" indent="-306705">
                        <a:lnSpc>
                          <a:spcPct val="102000"/>
                        </a:lnSpc>
                        <a:spcBef>
                          <a:spcPts val="355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Mean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60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latin typeface="Calibri"/>
                          <a:cs typeface="Calibri"/>
                        </a:rPr>
                        <a:t>DAS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(cm)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25" b="1">
                          <a:latin typeface="Calibri"/>
                          <a:cs typeface="Calibri"/>
                        </a:rPr>
                        <a:t>SE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marL="420370" marR="106680" indent="-306705">
                        <a:lnSpc>
                          <a:spcPct val="102000"/>
                        </a:lnSpc>
                        <a:spcBef>
                          <a:spcPts val="355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Mean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90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latin typeface="Calibri"/>
                          <a:cs typeface="Calibri"/>
                        </a:rPr>
                        <a:t>DAS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(cm)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T1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(0%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2.609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2.810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36.3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T2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(25%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21.6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1.048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40.55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1.890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45.7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T3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(50%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23.2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0.769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45.75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0.882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47.9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T4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(75%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25.9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1.702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50.77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2.054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53.8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T5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(100%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29.3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1.157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57.00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1.634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58.0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CD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(p=0.05)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—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4.008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—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—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SE(m)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1.224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—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1.287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—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—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104389" y="4768722"/>
            <a:ext cx="356171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6: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Plant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Height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(cm)</a:t>
            </a:r>
            <a:r>
              <a:rPr dirty="0" sz="950" spc="-3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30,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60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&amp;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90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DAS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under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Different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NPK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Levels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0882" y="8254745"/>
            <a:ext cx="3307079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Fig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1: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Plant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Height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30,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60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&amp;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90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DAS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Across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NPK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Treatment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Levels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4533" y="5332248"/>
            <a:ext cx="5523332" cy="283840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7704" y="430783"/>
            <a:ext cx="6198870" cy="1997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900">
              <a:latin typeface="Calibri"/>
              <a:cs typeface="Calibri"/>
            </a:endParaRPr>
          </a:p>
          <a:p>
            <a:pPr algn="just" marL="12700" marR="7620">
              <a:lnSpc>
                <a:spcPct val="135500"/>
              </a:lnSpc>
            </a:pPr>
            <a:r>
              <a:rPr dirty="0" sz="1100">
                <a:latin typeface="Calibri"/>
                <a:cs typeface="Calibri"/>
              </a:rPr>
              <a:t>The ANOVA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showed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highly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 plant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=</a:t>
            </a:r>
            <a:r>
              <a:rPr dirty="0" sz="1100" spc="-10">
                <a:latin typeface="Calibri"/>
                <a:cs typeface="Calibri"/>
              </a:rPr>
              <a:t> 241.2, </a:t>
            </a:r>
            <a:r>
              <a:rPr dirty="0" sz="1100">
                <a:latin typeface="Calibri"/>
                <a:cs typeface="Calibri"/>
              </a:rPr>
              <a:t>p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&lt;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0.001)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(F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=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161.88,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&lt;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0.001).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T5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(100%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consistently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highest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stages,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confirming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positive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response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application.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5.1.2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Number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Branches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per</a:t>
            </a:r>
            <a:r>
              <a:rPr dirty="0" sz="1300" spc="-4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Plant</a:t>
            </a:r>
            <a:endParaRPr sz="1300">
              <a:latin typeface="Calibri"/>
              <a:cs typeface="Calibri"/>
            </a:endParaRPr>
          </a:p>
          <a:p>
            <a:pPr algn="just" marL="12700" marR="5080">
              <a:lnSpc>
                <a:spcPct val="135500"/>
              </a:lnSpc>
              <a:spcBef>
                <a:spcPts val="16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significantly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75-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DAS.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0404" y="2778505"/>
          <a:ext cx="4912995" cy="1687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5900"/>
                <a:gridCol w="1114425"/>
                <a:gridCol w="1115695"/>
                <a:gridCol w="1113789"/>
              </a:tblGrid>
              <a:tr h="263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Treatment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30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DAS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(Mean)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60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DAS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(Mean)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90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DAS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(Mean)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T1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(0%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T2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(25%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5.15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T3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(50%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T4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(75%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T5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(100%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7.8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5.6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CD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(p=0.05)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1.56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0.225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0.37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459863" y="4456302"/>
            <a:ext cx="285178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7: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Number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of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Branches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Plant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30,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60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&amp;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90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DAS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704" y="7847838"/>
            <a:ext cx="6194425" cy="996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Fig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2: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Number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of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Branches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30,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60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&amp;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90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DAS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Across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Treatments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5.1.3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Number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Leaves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per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Plant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5400"/>
              </a:lnSpc>
              <a:spcBef>
                <a:spcPts val="16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 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leaves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progressively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 30 DAS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harvest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treatments.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T3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(50%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leaves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0">
                <a:latin typeface="Calibri"/>
                <a:cs typeface="Calibri"/>
              </a:rPr>
              <a:t> stages.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4533" y="5015176"/>
            <a:ext cx="5523332" cy="274759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0404" y="914400"/>
          <a:ext cx="4912995" cy="1449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5900"/>
                <a:gridCol w="1114425"/>
                <a:gridCol w="1115695"/>
                <a:gridCol w="1113789"/>
              </a:tblGrid>
              <a:tr h="263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Treatment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30</a:t>
                      </a:r>
                      <a:r>
                        <a:rPr dirty="0" sz="10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latin typeface="Calibri"/>
                          <a:cs typeface="Calibri"/>
                        </a:rPr>
                        <a:t>DAS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60</a:t>
                      </a:r>
                      <a:r>
                        <a:rPr dirty="0" sz="10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latin typeface="Calibri"/>
                          <a:cs typeface="Calibri"/>
                        </a:rPr>
                        <a:t>DAS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Harvest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T1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(0%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25.00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28.00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31.00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T2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(25%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26.40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30.20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33.25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T3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(50%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28.73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32.00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35.50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T4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(75%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27.60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31.20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32.75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T5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(100%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26.73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30.20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33.00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322322" y="2352801"/>
            <a:ext cx="312547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8: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Number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of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Leaves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per</a:t>
            </a:r>
            <a:r>
              <a:rPr dirty="0" sz="950" spc="-3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Plant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Different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Growth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Stages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704" y="5744336"/>
            <a:ext cx="6196330" cy="996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Fig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Number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of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Leaves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Plant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DAS,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60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DAS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and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Harvest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5.1.4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Leaf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Area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per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Plant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(cm²)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5500"/>
              </a:lnSpc>
              <a:spcBef>
                <a:spcPts val="150"/>
              </a:spcBef>
            </a:pPr>
            <a:r>
              <a:rPr dirty="0" sz="1100">
                <a:latin typeface="Calibri"/>
                <a:cs typeface="Calibri"/>
              </a:rPr>
              <a:t>Leaf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calculated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length-</a:t>
            </a:r>
            <a:r>
              <a:rPr dirty="0" sz="1100" spc="-10">
                <a:latin typeface="Calibri"/>
                <a:cs typeface="Calibri"/>
              </a:rPr>
              <a:t>width-</a:t>
            </a:r>
            <a:r>
              <a:rPr dirty="0" sz="1100">
                <a:latin typeface="Calibri"/>
                <a:cs typeface="Calibri"/>
              </a:rPr>
              <a:t>correction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factor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method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30,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90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DAS.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T4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(75%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stages.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00404" y="7093584"/>
          <a:ext cx="4912995" cy="1449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5900"/>
                <a:gridCol w="1114425"/>
                <a:gridCol w="1115695"/>
                <a:gridCol w="1113789"/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Treatment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30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DAS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(cm²)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60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DAS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(cm²)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90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DAS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(cm²)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T1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(0%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21.7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23.2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24.3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T2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(25%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26.1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28.2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T3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(50%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24.0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25.3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26.7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T4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(75%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26.4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28.0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29.6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T5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(100%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15.9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20.2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23.7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581782" y="8532114"/>
            <a:ext cx="260794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9: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Leaf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Area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Plant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(cm²)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30,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60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&amp;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90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DAS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4533" y="2913072"/>
            <a:ext cx="5523332" cy="275217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704" y="3791838"/>
            <a:ext cx="6197600" cy="1579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Fig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4: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Leaf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Area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(cm²)</a:t>
            </a:r>
            <a:r>
              <a:rPr dirty="0" sz="950" spc="-3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30,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60</a:t>
            </a:r>
            <a:r>
              <a:rPr dirty="0" sz="950" spc="-3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&amp;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90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DAS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Across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Treatments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buAutoNum type="arabicPeriod" startAt="2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1300" spc="-5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Parameters</a:t>
            </a:r>
            <a:endParaRPr sz="1300">
              <a:latin typeface="Calibri"/>
              <a:cs typeface="Calibri"/>
            </a:endParaRPr>
          </a:p>
          <a:p>
            <a:pPr algn="just" lvl="2" marL="386715" indent="-374015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386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Dry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Matter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Content</a:t>
            </a:r>
            <a:endParaRPr sz="1300">
              <a:latin typeface="Calibri"/>
              <a:cs typeface="Calibri"/>
            </a:endParaRPr>
          </a:p>
          <a:p>
            <a:pPr algn="just" marL="12700" marR="5080">
              <a:lnSpc>
                <a:spcPct val="136000"/>
              </a:lnSpc>
              <a:spcBef>
                <a:spcPts val="160"/>
              </a:spcBef>
            </a:pPr>
            <a:r>
              <a:rPr dirty="0" sz="1100">
                <a:latin typeface="Calibri"/>
                <a:cs typeface="Calibri"/>
              </a:rPr>
              <a:t>Dry matter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content per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 30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DAS.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notable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observed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30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across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treatments,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indicating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biomass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accumulation.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T2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(25%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matter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(498.6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g),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followed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T5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(474.0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g).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0404" y="5721984"/>
          <a:ext cx="6027420" cy="144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835"/>
                <a:gridCol w="1981835"/>
                <a:gridCol w="1981835"/>
              </a:tblGrid>
              <a:tr h="263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Treatment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Dry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Matter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30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DAS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latin typeface="Calibri"/>
                          <a:cs typeface="Calibri"/>
                        </a:rPr>
                        <a:t>(g)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Dry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Matter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60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DAS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latin typeface="Calibri"/>
                          <a:cs typeface="Calibri"/>
                        </a:rPr>
                        <a:t>(g)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T1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(0%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36.0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448.5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T2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(25%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37.0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498.6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T3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(50%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40.5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473.7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T4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(75%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35.2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461.3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T5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(100%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36.7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474.0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641219" y="7160132"/>
            <a:ext cx="248920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10: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Dry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Matter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Content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(g)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and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60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DAS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977" y="960193"/>
            <a:ext cx="5519889" cy="274759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704" y="3791838"/>
            <a:ext cx="6200140" cy="1450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Fig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5: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Dry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Matter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Content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30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&amp;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60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DAS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under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Different</a:t>
            </a:r>
            <a:r>
              <a:rPr dirty="0" sz="950" spc="-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NPK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Levels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5.2.2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Pods,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Pod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Weight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and</a:t>
            </a:r>
            <a:r>
              <a:rPr dirty="0" sz="1300" spc="-1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Seed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endParaRPr sz="1300">
              <a:latin typeface="Calibri"/>
              <a:cs typeface="Calibri"/>
            </a:endParaRPr>
          </a:p>
          <a:p>
            <a:pPr algn="just" marL="12700" marR="5080">
              <a:lnSpc>
                <a:spcPct val="135500"/>
              </a:lnSpc>
              <a:spcBef>
                <a:spcPts val="16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parameters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pods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plot,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plant,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seed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were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harvest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(04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January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2025).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T5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(100%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pods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per </a:t>
            </a:r>
            <a:r>
              <a:rPr dirty="0" sz="1100">
                <a:latin typeface="Calibri"/>
                <a:cs typeface="Calibri"/>
              </a:rPr>
              <a:t>plot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(70.50)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(24.03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g),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while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T3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(50%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recorded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plant </a:t>
            </a:r>
            <a:r>
              <a:rPr dirty="0" sz="1100">
                <a:latin typeface="Calibri"/>
                <a:cs typeface="Calibri"/>
              </a:rPr>
              <a:t>(24.60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g).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0404" y="5595493"/>
          <a:ext cx="4912995" cy="1604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5900"/>
                <a:gridCol w="1114425"/>
                <a:gridCol w="1115695"/>
                <a:gridCol w="1113789"/>
              </a:tblGrid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Treatment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Pods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Plot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marL="487045" marR="80010" indent="-402590">
                        <a:lnSpc>
                          <a:spcPct val="102000"/>
                        </a:lnSpc>
                        <a:spcBef>
                          <a:spcPts val="355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Pod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Weight/Plant </a:t>
                      </a:r>
                      <a:r>
                        <a:rPr dirty="0" sz="1000" spc="-25" b="1">
                          <a:latin typeface="Calibri"/>
                          <a:cs typeface="Calibri"/>
                        </a:rPr>
                        <a:t>(g)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marL="487045" marR="113664" indent="-367665">
                        <a:lnSpc>
                          <a:spcPct val="102000"/>
                        </a:lnSpc>
                        <a:spcBef>
                          <a:spcPts val="355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Seed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Yield/Plant </a:t>
                      </a:r>
                      <a:r>
                        <a:rPr dirty="0" sz="1000" spc="-25" b="1">
                          <a:latin typeface="Calibri"/>
                          <a:cs typeface="Calibri"/>
                        </a:rPr>
                        <a:t>(g)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T1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(0%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64.33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21.60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14.40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T2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(25%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68.73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23.83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16.53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T3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(50%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69.30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24.60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15.97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T4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(75%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65.77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23.57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13.83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T5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(100%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RDF)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70.50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24.03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15.80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290317" y="7189089"/>
            <a:ext cx="318770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11: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Yield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Parameters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Harvest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under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Different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NPK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Levels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906" y="972322"/>
            <a:ext cx="5546588" cy="273007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704" y="3887850"/>
            <a:ext cx="6195060" cy="996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Fig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6: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Yield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Parameters</a:t>
            </a:r>
            <a:r>
              <a:rPr dirty="0" sz="950" spc="-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–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Pods,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Pod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Weight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&amp;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Seed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Yield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per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Treatment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5.3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ANOVA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Summary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and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Statistical</a:t>
            </a:r>
            <a:r>
              <a:rPr dirty="0" sz="1300" spc="-4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Significance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6400"/>
              </a:lnSpc>
              <a:spcBef>
                <a:spcPts val="14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RCBD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analysis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variance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revealed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significant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effects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parameters.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F-</a:t>
            </a:r>
            <a:r>
              <a:rPr dirty="0" sz="1100">
                <a:latin typeface="Calibri"/>
                <a:cs typeface="Calibri"/>
              </a:rPr>
              <a:t>calculated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values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summarized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below: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0404" y="5235575"/>
          <a:ext cx="5684520" cy="1449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/>
                <a:gridCol w="1000125"/>
                <a:gridCol w="1001395"/>
                <a:gridCol w="999489"/>
                <a:gridCol w="1000125"/>
              </a:tblGrid>
              <a:tr h="263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Parameter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DF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(Treatment)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b="1">
                          <a:latin typeface="Calibri"/>
                          <a:cs typeface="Calibri"/>
                        </a:rPr>
                        <a:t>Sum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Squares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F-calculated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Significance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C7E6C8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Plant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Height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30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DAS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270.6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241.2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0.001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***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Plant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Height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60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DAS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1165.69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161.88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0.001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***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Branches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30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DAS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10.9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4.4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0.05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*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Branches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60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DAS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24.24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60.06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0.001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***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  <a:solidFill>
                      <a:srgbClr val="F0F8E9"/>
                    </a:solidFill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Branches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@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90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DAS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24.24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60.06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0.001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***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6194">
                    <a:lnL w="6350">
                      <a:solidFill>
                        <a:srgbClr val="1B5E1F"/>
                      </a:solidFill>
                      <a:prstDash val="solid"/>
                    </a:lnL>
                    <a:lnR w="6350">
                      <a:solidFill>
                        <a:srgbClr val="1B5E1F"/>
                      </a:solidFill>
                      <a:prstDash val="solid"/>
                    </a:lnR>
                    <a:lnT w="6350">
                      <a:solidFill>
                        <a:srgbClr val="1B5E1F"/>
                      </a:solidFill>
                      <a:prstDash val="solid"/>
                    </a:lnT>
                    <a:lnB w="6350">
                      <a:solidFill>
                        <a:srgbClr val="1B5E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342133" y="6673977"/>
            <a:ext cx="308610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Table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12: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ANOVA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Summary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for</a:t>
            </a:r>
            <a:r>
              <a:rPr dirty="0" sz="950" spc="-3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Key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Growth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Parameters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(RCBD)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478" y="964845"/>
            <a:ext cx="5537442" cy="283840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50110" y="3697350"/>
            <a:ext cx="347345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Fig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9: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ANOVA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F-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values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for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Growth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Parameters</a:t>
            </a:r>
            <a:r>
              <a:rPr dirty="0" sz="950" spc="-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–</a:t>
            </a:r>
            <a:r>
              <a:rPr dirty="0" sz="95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Statistical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Significance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6125" y="6898005"/>
            <a:ext cx="474091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Fig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8: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Normalized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Growth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Parameters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Heatmap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@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30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DAS</a:t>
            </a:r>
            <a:r>
              <a:rPr dirty="0" sz="950" spc="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–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Relative</a:t>
            </a:r>
            <a:r>
              <a:rPr dirty="0" sz="950" spc="-1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Performance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45454"/>
                </a:solidFill>
                <a:latin typeface="Calibri"/>
                <a:cs typeface="Calibri"/>
              </a:rPr>
              <a:t>of</a:t>
            </a:r>
            <a:r>
              <a:rPr dirty="0" sz="950" spc="-2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45454"/>
                </a:solidFill>
                <a:latin typeface="Calibri"/>
                <a:cs typeface="Calibri"/>
              </a:rPr>
              <a:t>Treatments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4457" y="971158"/>
            <a:ext cx="5391779" cy="262981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0882" y="4264881"/>
            <a:ext cx="5194852" cy="255420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7704" y="430783"/>
            <a:ext cx="6199505" cy="8482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Calibri"/>
              <a:cs typeface="Calibri"/>
            </a:endParaRPr>
          </a:p>
          <a:p>
            <a:pPr algn="just" marL="214629" indent="-201930">
              <a:lnSpc>
                <a:spcPct val="100000"/>
              </a:lnSpc>
              <a:buAutoNum type="arabicPeriod" startAt="6"/>
              <a:tabLst>
                <a:tab pos="214629" algn="l"/>
              </a:tabLst>
            </a:pPr>
            <a:r>
              <a:rPr dirty="0" sz="1600" b="1">
                <a:solidFill>
                  <a:srgbClr val="1B5E1F"/>
                </a:solidFill>
                <a:latin typeface="Calibri"/>
                <a:cs typeface="Calibri"/>
              </a:rPr>
              <a:t>Result</a:t>
            </a:r>
            <a:r>
              <a:rPr dirty="0" sz="1600" spc="-5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5E1F"/>
                </a:solidFill>
                <a:latin typeface="Calibri"/>
                <a:cs typeface="Calibri"/>
              </a:rPr>
              <a:t>Discussion</a:t>
            </a:r>
            <a:endParaRPr sz="1600">
              <a:latin typeface="Calibri"/>
              <a:cs typeface="Calibri"/>
            </a:endParaRPr>
          </a:p>
          <a:p>
            <a:pPr algn="just" marL="12700" marR="9525">
              <a:lnSpc>
                <a:spcPct val="135900"/>
              </a:lnSpc>
              <a:spcBef>
                <a:spcPts val="37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present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study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investigated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influence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graded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bean </a:t>
            </a:r>
            <a:r>
              <a:rPr dirty="0" sz="1100">
                <a:latin typeface="Calibri"/>
                <a:cs typeface="Calibri"/>
              </a:rPr>
              <a:t>(Lablab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purpureus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L.)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variety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HA-</a:t>
            </a:r>
            <a:r>
              <a:rPr dirty="0" sz="1100">
                <a:latin typeface="Calibri"/>
                <a:cs typeface="Calibri"/>
              </a:rPr>
              <a:t>4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during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Kharif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2024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GKVK,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Bengaluru.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discussion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integrates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observed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results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relevant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literature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findings.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buAutoNum type="arabicPeriod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Plant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Height</a:t>
            </a:r>
            <a:endParaRPr sz="1300">
              <a:latin typeface="Calibri"/>
              <a:cs typeface="Calibri"/>
            </a:endParaRPr>
          </a:p>
          <a:p>
            <a:pPr algn="just" marL="12700" marR="7620">
              <a:lnSpc>
                <a:spcPct val="135500"/>
              </a:lnSpc>
              <a:spcBef>
                <a:spcPts val="165"/>
              </a:spcBef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consistent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highly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significant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observed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increasing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all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stages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(30,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60,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90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DAS).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Treatment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T5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(100%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recorded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maximum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29.3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cm,</a:t>
            </a:r>
            <a:endParaRPr sz="1100">
              <a:latin typeface="Calibri"/>
              <a:cs typeface="Calibri"/>
            </a:endParaRPr>
          </a:p>
          <a:p>
            <a:pPr algn="just" marL="12700" marR="5080">
              <a:lnSpc>
                <a:spcPct val="135500"/>
              </a:lnSpc>
              <a:spcBef>
                <a:spcPts val="10"/>
              </a:spcBef>
            </a:pPr>
            <a:r>
              <a:rPr dirty="0" sz="1100">
                <a:latin typeface="Calibri"/>
                <a:cs typeface="Calibri"/>
              </a:rPr>
              <a:t>57.0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58.0 cm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 30,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90 DAS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respectively,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compared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18.5,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35.0, 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36.3 cm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</a:t>
            </a:r>
            <a:r>
              <a:rPr dirty="0" sz="1100" spc="-10">
                <a:latin typeface="Calibri"/>
                <a:cs typeface="Calibri"/>
              </a:rPr>
              <a:t>control </a:t>
            </a:r>
            <a:r>
              <a:rPr dirty="0" sz="1100">
                <a:latin typeface="Calibri"/>
                <a:cs typeface="Calibri"/>
              </a:rPr>
              <a:t>(T1).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progressive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 height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 attributed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in </a:t>
            </a:r>
            <a:r>
              <a:rPr dirty="0" sz="1100">
                <a:latin typeface="Calibri"/>
                <a:cs typeface="Calibri"/>
              </a:rPr>
              <a:t>promoting vegetative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 through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participation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protein synthesis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chlorophyll formation,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which </a:t>
            </a:r>
            <a:r>
              <a:rPr dirty="0" sz="1100">
                <a:latin typeface="Calibri"/>
                <a:cs typeface="Calibri"/>
              </a:rPr>
              <a:t>enhances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photosynthetic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efficiency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therefore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cell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elongation.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5080">
              <a:lnSpc>
                <a:spcPct val="135500"/>
              </a:lnSpc>
            </a:pPr>
            <a:r>
              <a:rPr dirty="0" sz="1100">
                <a:latin typeface="Calibri"/>
                <a:cs typeface="Calibri"/>
              </a:rPr>
              <a:t>These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results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consonance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those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Jaisankar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Manivannan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(2016),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who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reported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maximum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95.45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N/ha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Chin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Anshuk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Ghosh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(2014),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who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recorded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highest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86.88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 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200%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 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Dolichos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bean.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buAutoNum type="arabicPeriod" startAt="2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Number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Branches</a:t>
            </a:r>
            <a:endParaRPr sz="1300">
              <a:latin typeface="Calibri"/>
              <a:cs typeface="Calibri"/>
            </a:endParaRPr>
          </a:p>
          <a:p>
            <a:pPr algn="just" marL="12700" marR="5080">
              <a:lnSpc>
                <a:spcPct val="135500"/>
              </a:lnSpc>
              <a:spcBef>
                <a:spcPts val="180"/>
              </a:spcBef>
            </a:pPr>
            <a:r>
              <a:rPr dirty="0" sz="1100">
                <a:latin typeface="Calibri"/>
                <a:cs typeface="Calibri"/>
              </a:rPr>
              <a:t>Treatment T5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(100%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branches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(6.6)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(7.8),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while </a:t>
            </a:r>
            <a:r>
              <a:rPr dirty="0" sz="1100">
                <a:latin typeface="Calibri"/>
                <a:cs typeface="Calibri"/>
              </a:rPr>
              <a:t>T4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(75%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90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(6.4).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significant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branching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higher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is </a:t>
            </a:r>
            <a:r>
              <a:rPr dirty="0" sz="1100">
                <a:latin typeface="Calibri"/>
                <a:cs typeface="Calibri"/>
              </a:rPr>
              <a:t>attributed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role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nitrogen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promoting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axillary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development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stimulating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lateral </a:t>
            </a:r>
            <a:r>
              <a:rPr dirty="0" sz="1100">
                <a:latin typeface="Calibri"/>
                <a:cs typeface="Calibri"/>
              </a:rPr>
              <a:t>root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shoot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growth.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These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findings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consistent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Sampika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et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al.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(2017),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who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reported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maximum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including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25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kg/ha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+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75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kg/ha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+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kg/ha.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buAutoNum type="arabicPeriod" startAt="3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Leaves</a:t>
            </a:r>
            <a:r>
              <a:rPr dirty="0" sz="1300" spc="-1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and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Leaf</a:t>
            </a:r>
            <a:r>
              <a:rPr dirty="0" sz="1300" spc="-1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D7C31"/>
                </a:solidFill>
                <a:latin typeface="Calibri"/>
                <a:cs typeface="Calibri"/>
              </a:rPr>
              <a:t>Area</a:t>
            </a:r>
            <a:endParaRPr sz="1300">
              <a:latin typeface="Calibri"/>
              <a:cs typeface="Calibri"/>
            </a:endParaRPr>
          </a:p>
          <a:p>
            <a:pPr algn="just" marL="12700" marR="7620">
              <a:lnSpc>
                <a:spcPct val="135700"/>
              </a:lnSpc>
              <a:spcBef>
                <a:spcPts val="175"/>
              </a:spcBef>
            </a:pP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T3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(50%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number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leaves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(28.73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32.0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35.5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at </a:t>
            </a:r>
            <a:r>
              <a:rPr dirty="0" sz="1100" spc="-10">
                <a:latin typeface="Calibri"/>
                <a:cs typeface="Calibri"/>
              </a:rPr>
              <a:t>harvest)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and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competitive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leaf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area.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highest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leaf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area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per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plant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was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recorded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in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T4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(75%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RDF)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growth </a:t>
            </a:r>
            <a:r>
              <a:rPr dirty="0" sz="1100">
                <a:latin typeface="Calibri"/>
                <a:cs typeface="Calibri"/>
              </a:rPr>
              <a:t>stages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(26.4,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28.0,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29.6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cm²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30,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60,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90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respectively).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relatively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lower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leaf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T5 </a:t>
            </a:r>
            <a:r>
              <a:rPr dirty="0" sz="1100">
                <a:latin typeface="Calibri"/>
                <a:cs typeface="Calibri"/>
              </a:rPr>
              <a:t>compared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T4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indicate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luxury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consumption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RDF,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diverting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assimilates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stem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expense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expansion.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Calibri"/>
              <a:cs typeface="Calibri"/>
            </a:endParaRPr>
          </a:p>
          <a:p>
            <a:pPr algn="just" lvl="1" marL="259715" indent="-247015">
              <a:lnSpc>
                <a:spcPct val="100000"/>
              </a:lnSpc>
              <a:buAutoNum type="arabicPeriod" startAt="4"/>
              <a:tabLst>
                <a:tab pos="259715" algn="l"/>
              </a:tabLst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1300" spc="-3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Dry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Matter</a:t>
            </a:r>
            <a:r>
              <a:rPr dirty="0" sz="1300" spc="-3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and</a:t>
            </a:r>
            <a:r>
              <a:rPr dirty="0" sz="1300" spc="-2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endParaRPr sz="1300">
              <a:latin typeface="Calibri"/>
              <a:cs typeface="Calibri"/>
            </a:endParaRPr>
          </a:p>
          <a:p>
            <a:pPr algn="just" marL="12700" marR="5080">
              <a:lnSpc>
                <a:spcPct val="135400"/>
              </a:lnSpc>
              <a:spcBef>
                <a:spcPts val="165"/>
              </a:spcBef>
            </a:pPr>
            <a:r>
              <a:rPr dirty="0" sz="1100">
                <a:latin typeface="Calibri"/>
                <a:cs typeface="Calibri"/>
              </a:rPr>
              <a:t>Dry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matter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accumulation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dramatically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across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treatments.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T2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(25%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RDF)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40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4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4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dry</a:t>
            </a:r>
            <a:r>
              <a:rPr dirty="0" sz="1100" spc="4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matter</a:t>
            </a:r>
            <a:r>
              <a:rPr dirty="0" sz="1100" spc="4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40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4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3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(498.6</a:t>
            </a:r>
            <a:r>
              <a:rPr dirty="0" sz="1100" spc="40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g),</a:t>
            </a:r>
            <a:r>
              <a:rPr dirty="0" sz="1100" spc="4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4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4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reflect</a:t>
            </a:r>
            <a:r>
              <a:rPr dirty="0" sz="1100" spc="4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efficient</a:t>
            </a:r>
            <a:r>
              <a:rPr dirty="0" sz="1100" spc="40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partitioning</a:t>
            </a:r>
            <a:r>
              <a:rPr dirty="0" sz="1100" spc="40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photosynthates.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parameters,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T5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(100%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(70.50)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7704" y="430783"/>
            <a:ext cx="6198870" cy="3658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900">
              <a:latin typeface="Calibri"/>
              <a:cs typeface="Calibri"/>
            </a:endParaRPr>
          </a:p>
          <a:p>
            <a:pPr algn="just" marL="12700" marR="6985">
              <a:lnSpc>
                <a:spcPct val="135500"/>
              </a:lnSpc>
            </a:pP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plant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(24.03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g),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whereas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T3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(50%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recorded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slightly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higher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(24.60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g/plant). </a:t>
            </a:r>
            <a:r>
              <a:rPr dirty="0" sz="1100">
                <a:latin typeface="Calibri"/>
                <a:cs typeface="Calibri"/>
              </a:rPr>
              <a:t>T2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(25%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(16.53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g).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5080">
              <a:lnSpc>
                <a:spcPct val="135500"/>
              </a:lnSpc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improvement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seed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increasing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attributed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better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root </a:t>
            </a:r>
            <a:r>
              <a:rPr dirty="0" sz="1100">
                <a:latin typeface="Calibri"/>
                <a:cs typeface="Calibri"/>
              </a:rPr>
              <a:t>nodulation,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enhanced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photosynthesis,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improved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source-</a:t>
            </a:r>
            <a:r>
              <a:rPr dirty="0" sz="1100">
                <a:latin typeface="Calibri"/>
                <a:cs typeface="Calibri"/>
              </a:rPr>
              <a:t>sink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relationships,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more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efficient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translocation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assimilates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vegetative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reproductive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organs.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These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results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supported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Rao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(2001)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Singh </a:t>
            </a:r>
            <a:r>
              <a:rPr dirty="0" sz="1100">
                <a:latin typeface="Calibri"/>
                <a:cs typeface="Calibri"/>
              </a:rPr>
              <a:t>(2004),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who noted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similar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improvements</a:t>
            </a:r>
            <a:r>
              <a:rPr dirty="0" sz="1100">
                <a:latin typeface="Calibri"/>
                <a:cs typeface="Calibri"/>
              </a:rPr>
              <a:t> 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attributes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optimized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legumes.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6.5</a:t>
            </a:r>
            <a:r>
              <a:rPr dirty="0" sz="1300" spc="-50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D7C31"/>
                </a:solidFill>
                <a:latin typeface="Calibri"/>
                <a:cs typeface="Calibri"/>
              </a:rPr>
              <a:t>Interaction</a:t>
            </a:r>
            <a:r>
              <a:rPr dirty="0" sz="1300" spc="-45" b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D7C31"/>
                </a:solidFill>
                <a:latin typeface="Calibri"/>
                <a:cs typeface="Calibri"/>
              </a:rPr>
              <a:t>Effects</a:t>
            </a:r>
            <a:endParaRPr sz="1300">
              <a:latin typeface="Calibri"/>
              <a:cs typeface="Calibri"/>
            </a:endParaRPr>
          </a:p>
          <a:p>
            <a:pPr algn="just" marL="12700" marR="6350">
              <a:lnSpc>
                <a:spcPct val="135500"/>
              </a:lnSpc>
              <a:spcBef>
                <a:spcPts val="18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combined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N,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P,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showed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synergistic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effects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both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yield.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Phosphorus </a:t>
            </a:r>
            <a:r>
              <a:rPr dirty="0" sz="1100">
                <a:latin typeface="Calibri"/>
                <a:cs typeface="Calibri"/>
              </a:rPr>
              <a:t>enhanced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symbiotic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fixation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root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nodules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amplified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effect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applied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nitrogen.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Potassium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regulated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stomatal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function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enzymatic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activity,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contributing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better </a:t>
            </a:r>
            <a:r>
              <a:rPr dirty="0" sz="1100">
                <a:latin typeface="Calibri"/>
                <a:cs typeface="Calibri"/>
              </a:rPr>
              <a:t>water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efficiency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photosynthetic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rates.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These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interaction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effects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explain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responses </a:t>
            </a:r>
            <a:r>
              <a:rPr dirty="0" sz="1100">
                <a:latin typeface="Calibri"/>
                <a:cs typeface="Calibri"/>
              </a:rPr>
              <a:t>were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always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linear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optimum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appeared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75–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range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parameters.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7704" y="430783"/>
            <a:ext cx="6198870" cy="6492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buAutoNum type="arabicPeriod" startAt="7"/>
              <a:tabLst>
                <a:tab pos="214629" algn="l"/>
              </a:tabLst>
            </a:pPr>
            <a:r>
              <a:rPr dirty="0" sz="1600" b="1">
                <a:solidFill>
                  <a:srgbClr val="1B5E1F"/>
                </a:solidFill>
                <a:latin typeface="Calibri"/>
                <a:cs typeface="Calibri"/>
              </a:rPr>
              <a:t>Summary</a:t>
            </a:r>
            <a:r>
              <a:rPr dirty="0" sz="1600" spc="-50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B5E1F"/>
                </a:solidFill>
                <a:latin typeface="Calibri"/>
                <a:cs typeface="Calibri"/>
              </a:rPr>
              <a:t>and</a:t>
            </a:r>
            <a:r>
              <a:rPr dirty="0" sz="1600" spc="-45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5E1F"/>
                </a:solidFill>
                <a:latin typeface="Calibri"/>
                <a:cs typeface="Calibri"/>
              </a:rPr>
              <a:t>Conclusion</a:t>
            </a:r>
            <a:endParaRPr sz="1600">
              <a:latin typeface="Calibri"/>
              <a:cs typeface="Calibri"/>
            </a:endParaRPr>
          </a:p>
          <a:p>
            <a:pPr algn="just" marL="12700" marR="5080">
              <a:lnSpc>
                <a:spcPct val="135800"/>
              </a:lnSpc>
              <a:spcBef>
                <a:spcPts val="37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titled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"Effect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Potassium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 spc="-10">
                <a:latin typeface="Calibri"/>
                <a:cs typeface="Calibri"/>
              </a:rPr>
              <a:t>Yield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Bean"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conducted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during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Kharif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2024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Agronomy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Field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Unit,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E-4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Block,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ZARS,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UAS,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GKVK, </a:t>
            </a:r>
            <a:r>
              <a:rPr dirty="0" sz="1100">
                <a:latin typeface="Calibri"/>
                <a:cs typeface="Calibri"/>
              </a:rPr>
              <a:t>Bengaluru.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laid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Randomized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Complete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Block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(RCBD)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treatments </a:t>
            </a:r>
            <a:r>
              <a:rPr dirty="0" sz="1100">
                <a:latin typeface="Calibri"/>
                <a:cs typeface="Calibri"/>
              </a:rPr>
              <a:t>(0%,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25%,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50%,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75%, 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four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replications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variety</a:t>
            </a:r>
            <a:r>
              <a:rPr dirty="0" sz="1100" spc="-10">
                <a:latin typeface="Calibri"/>
                <a:cs typeface="Calibri"/>
              </a:rPr>
              <a:t> HA-</a:t>
            </a:r>
            <a:r>
              <a:rPr dirty="0" sz="1100">
                <a:latin typeface="Calibri"/>
                <a:cs typeface="Calibri"/>
              </a:rPr>
              <a:t>4, sown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15</a:t>
            </a:r>
            <a:r>
              <a:rPr dirty="0" sz="1100" spc="-10">
                <a:latin typeface="Calibri"/>
                <a:cs typeface="Calibri"/>
              </a:rPr>
              <a:t> September</a:t>
            </a:r>
            <a:endParaRPr sz="11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470"/>
              </a:spcBef>
            </a:pPr>
            <a:r>
              <a:rPr dirty="0" sz="1100">
                <a:latin typeface="Calibri"/>
                <a:cs typeface="Calibri"/>
              </a:rPr>
              <a:t>2024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harvested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04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January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2025.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principal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findings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summarized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below: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00">
              <a:latin typeface="Calibri"/>
              <a:cs typeface="Calibri"/>
            </a:endParaRPr>
          </a:p>
          <a:p>
            <a:pPr lvl="1" marL="469900" marR="167005" indent="-228600">
              <a:lnSpc>
                <a:spcPct val="101800"/>
              </a:lnSpc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significantly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stages.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T5 </a:t>
            </a:r>
            <a:r>
              <a:rPr dirty="0" sz="1100">
                <a:latin typeface="Calibri"/>
                <a:cs typeface="Calibri"/>
              </a:rPr>
              <a:t>(100%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height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(29.3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cm),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(57.0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cm)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90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DAS </a:t>
            </a:r>
            <a:r>
              <a:rPr dirty="0" sz="1100">
                <a:latin typeface="Calibri"/>
                <a:cs typeface="Calibri"/>
              </a:rPr>
              <a:t>(58.0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cm).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ANOVA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revealed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=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241.2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161.88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60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respectively).</a:t>
            </a:r>
            <a:endParaRPr sz="1100">
              <a:latin typeface="Calibri"/>
              <a:cs typeface="Calibri"/>
            </a:endParaRPr>
          </a:p>
          <a:p>
            <a:pPr lvl="1" marL="469900" marR="200660" indent="-228600">
              <a:lnSpc>
                <a:spcPct val="101800"/>
              </a:lnSpc>
              <a:spcBef>
                <a:spcPts val="190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T5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(100%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(6.6)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(7.8), </a:t>
            </a:r>
            <a:r>
              <a:rPr dirty="0" sz="1100">
                <a:latin typeface="Calibri"/>
                <a:cs typeface="Calibri"/>
              </a:rPr>
              <a:t>indicating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promoted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greater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intensity.</a:t>
            </a:r>
            <a:endParaRPr sz="1100">
              <a:latin typeface="Calibri"/>
              <a:cs typeface="Calibri"/>
            </a:endParaRPr>
          </a:p>
          <a:p>
            <a:pPr lvl="1" marL="469900" marR="120014" indent="-228600">
              <a:lnSpc>
                <a:spcPct val="101800"/>
              </a:lnSpc>
              <a:spcBef>
                <a:spcPts val="204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T3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(50%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leaves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10">
                <a:latin typeface="Calibri"/>
                <a:cs typeface="Calibri"/>
              </a:rPr>
              <a:t> (28.73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35.5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at </a:t>
            </a:r>
            <a:r>
              <a:rPr dirty="0" sz="1100">
                <a:latin typeface="Calibri"/>
                <a:cs typeface="Calibri"/>
              </a:rPr>
              <a:t>harvest),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T4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(75%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showed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maximum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stages.</a:t>
            </a:r>
            <a:endParaRPr sz="1100">
              <a:latin typeface="Calibri"/>
              <a:cs typeface="Calibri"/>
            </a:endParaRPr>
          </a:p>
          <a:p>
            <a:pPr lvl="1" marL="469900" marR="425450" indent="-228600">
              <a:lnSpc>
                <a:spcPct val="101800"/>
              </a:lnSpc>
              <a:spcBef>
                <a:spcPts val="19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Dry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accumulation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T2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(25%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60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(498.6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g),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though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differences </a:t>
            </a:r>
            <a:r>
              <a:rPr dirty="0" sz="1100">
                <a:latin typeface="Calibri"/>
                <a:cs typeface="Calibri"/>
              </a:rPr>
              <a:t>narrowed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levels.</a:t>
            </a:r>
            <a:endParaRPr sz="1100">
              <a:latin typeface="Calibri"/>
              <a:cs typeface="Calibri"/>
            </a:endParaRPr>
          </a:p>
          <a:p>
            <a:pPr lvl="1" marL="469900" marR="86995" indent="-228600">
              <a:lnSpc>
                <a:spcPct val="101899"/>
              </a:lnSpc>
              <a:spcBef>
                <a:spcPts val="200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parameters,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T5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(100%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recorded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number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(70.50)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pod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(24.03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g).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T3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(50%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achieved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maximum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weight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24.60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g/plant.</a:t>
            </a:r>
            <a:r>
              <a:rPr dirty="0" sz="1100" spc="-25">
                <a:latin typeface="Calibri"/>
                <a:cs typeface="Calibri"/>
              </a:rPr>
              <a:t> T2 </a:t>
            </a:r>
            <a:r>
              <a:rPr dirty="0" sz="1100">
                <a:latin typeface="Calibri"/>
                <a:cs typeface="Calibri"/>
              </a:rPr>
              <a:t>(25%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RDF)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highest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plant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(16.53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g).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7620">
              <a:lnSpc>
                <a:spcPct val="135500"/>
              </a:lnSpc>
            </a:pPr>
            <a:r>
              <a:rPr dirty="0" sz="1100">
                <a:latin typeface="Calibri"/>
                <a:cs typeface="Calibri"/>
              </a:rPr>
              <a:t>Conclusion: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study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conclusively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demonstrates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Recommended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(equivalent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to </a:t>
            </a:r>
            <a:r>
              <a:rPr dirty="0" sz="1100">
                <a:latin typeface="Calibri"/>
                <a:cs typeface="Calibri"/>
              </a:rPr>
              <a:t>5.434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urea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+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31.2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SSP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+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4.16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per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1m²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plot)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effective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maximizing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overall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variety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HA-</a:t>
            </a:r>
            <a:r>
              <a:rPr dirty="0" sz="1100">
                <a:latin typeface="Calibri"/>
                <a:cs typeface="Calibri"/>
              </a:rPr>
              <a:t>4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Eastern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Dry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Zone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conditions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Karnataka.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balanced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significantly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enhances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vegetative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branching,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formation,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overall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productivity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bean.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704" y="892810"/>
            <a:ext cx="6159500" cy="4107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95"/>
              </a:spcBef>
              <a:buAutoNum type="arabicPeriod" startAt="8"/>
              <a:tabLst>
                <a:tab pos="214629" algn="l"/>
              </a:tabLst>
            </a:pPr>
            <a:r>
              <a:rPr dirty="0" sz="1600" b="1">
                <a:solidFill>
                  <a:srgbClr val="1B5E1F"/>
                </a:solidFill>
                <a:latin typeface="Calibri"/>
                <a:cs typeface="Calibri"/>
              </a:rPr>
              <a:t>Future</a:t>
            </a:r>
            <a:r>
              <a:rPr dirty="0" sz="1600" spc="-50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1B5E1F"/>
                </a:solidFill>
                <a:latin typeface="Calibri"/>
                <a:cs typeface="Calibri"/>
              </a:rPr>
              <a:t>Scope</a:t>
            </a:r>
            <a:endParaRPr sz="1600">
              <a:latin typeface="Calibri"/>
              <a:cs typeface="Calibri"/>
            </a:endParaRPr>
          </a:p>
          <a:p>
            <a:pPr lvl="1" marL="469900" marR="220979" indent="-228600">
              <a:lnSpc>
                <a:spcPct val="101800"/>
              </a:lnSpc>
              <a:spcBef>
                <a:spcPts val="82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Dose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Optimization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Scale: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micro-</a:t>
            </a:r>
            <a:r>
              <a:rPr dirty="0" sz="1100">
                <a:latin typeface="Calibri"/>
                <a:cs typeface="Calibri"/>
              </a:rPr>
              <a:t>plot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sizes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(1m×1m).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Future </a:t>
            </a:r>
            <a:r>
              <a:rPr dirty="0" sz="1100">
                <a:latin typeface="Calibri"/>
                <a:cs typeface="Calibri"/>
              </a:rPr>
              <a:t>research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validate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100% RDF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larger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field-</a:t>
            </a:r>
            <a:r>
              <a:rPr dirty="0" sz="1100">
                <a:latin typeface="Calibri"/>
                <a:cs typeface="Calibri"/>
              </a:rPr>
              <a:t>scale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plots 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account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spatial </a:t>
            </a:r>
            <a:r>
              <a:rPr dirty="0" sz="1100">
                <a:latin typeface="Calibri"/>
                <a:cs typeface="Calibri"/>
              </a:rPr>
              <a:t>variability,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edge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effects,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practical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mechanization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application.</a:t>
            </a:r>
            <a:endParaRPr sz="1100">
              <a:latin typeface="Calibri"/>
              <a:cs typeface="Calibri"/>
            </a:endParaRPr>
          </a:p>
          <a:p>
            <a:pPr lvl="1" marL="469900" marR="11430" indent="-228600">
              <a:lnSpc>
                <a:spcPct val="101800"/>
              </a:lnSpc>
              <a:spcBef>
                <a:spcPts val="204"/>
              </a:spcBef>
              <a:buChar char="•"/>
              <a:tabLst>
                <a:tab pos="469900" algn="l"/>
              </a:tabLst>
            </a:pPr>
            <a:r>
              <a:rPr dirty="0" sz="1100" spc="-10">
                <a:latin typeface="Calibri"/>
                <a:cs typeface="Calibri"/>
              </a:rPr>
              <a:t>Multi-</a:t>
            </a:r>
            <a:r>
              <a:rPr dirty="0" sz="1100">
                <a:latin typeface="Calibri"/>
                <a:cs typeface="Calibri"/>
              </a:rPr>
              <a:t>Season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Studies: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Repeating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experiment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across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multiple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Kharif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Rabi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seasons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0">
                <a:latin typeface="Calibri"/>
                <a:cs typeface="Calibri"/>
              </a:rPr>
              <a:t> help </a:t>
            </a:r>
            <a:r>
              <a:rPr dirty="0" sz="1100">
                <a:latin typeface="Calibri"/>
                <a:cs typeface="Calibri"/>
              </a:rPr>
              <a:t>identify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season-</a:t>
            </a:r>
            <a:r>
              <a:rPr dirty="0" sz="1100">
                <a:latin typeface="Calibri"/>
                <a:cs typeface="Calibri"/>
              </a:rPr>
              <a:t>specific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optimum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assess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stability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treatment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responses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across </a:t>
            </a:r>
            <a:r>
              <a:rPr dirty="0" sz="1100">
                <a:latin typeface="Calibri"/>
                <a:cs typeface="Calibri"/>
              </a:rPr>
              <a:t>years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climatic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variabilities.</a:t>
            </a:r>
            <a:endParaRPr sz="1100">
              <a:latin typeface="Calibri"/>
              <a:cs typeface="Calibri"/>
            </a:endParaRPr>
          </a:p>
          <a:p>
            <a:pPr lvl="1" marL="469900" marR="85725" indent="-228600">
              <a:lnSpc>
                <a:spcPct val="101800"/>
              </a:lnSpc>
              <a:spcBef>
                <a:spcPts val="190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Biofertilizer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Integration: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Future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studies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explore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integration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Rhizobium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phosphate-</a:t>
            </a:r>
            <a:r>
              <a:rPr dirty="0" sz="1100">
                <a:latin typeface="Calibri"/>
                <a:cs typeface="Calibri"/>
              </a:rPr>
              <a:t>solubilizing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bacteria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(PSB)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reduced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chemical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optimize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reducing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cost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cultivation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environmental</a:t>
            </a:r>
            <a:r>
              <a:rPr dirty="0" sz="1100" spc="-10">
                <a:latin typeface="Calibri"/>
                <a:cs typeface="Calibri"/>
              </a:rPr>
              <a:t> impact.</a:t>
            </a:r>
            <a:endParaRPr sz="1100">
              <a:latin typeface="Calibri"/>
              <a:cs typeface="Calibri"/>
            </a:endParaRPr>
          </a:p>
          <a:p>
            <a:pPr lvl="1" marL="469900" marR="66040" indent="-228600">
              <a:lnSpc>
                <a:spcPct val="101899"/>
              </a:lnSpc>
              <a:spcBef>
                <a:spcPts val="190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Soil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Health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Nutrient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Balance: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comprehensive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soil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analysis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before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after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experiment </a:t>
            </a:r>
            <a:r>
              <a:rPr dirty="0" sz="1100">
                <a:latin typeface="Calibri"/>
                <a:cs typeface="Calibri"/>
              </a:rPr>
              <a:t>could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quantify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changes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soil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nutrient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status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guide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recommendations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sustainable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long-</a:t>
            </a:r>
            <a:r>
              <a:rPr dirty="0" sz="1100">
                <a:latin typeface="Calibri"/>
                <a:cs typeface="Calibri"/>
              </a:rPr>
              <a:t>term</a:t>
            </a:r>
            <a:r>
              <a:rPr dirty="0" sz="1100" spc="-10">
                <a:latin typeface="Calibri"/>
                <a:cs typeface="Calibri"/>
              </a:rPr>
              <a:t> fertilization.</a:t>
            </a:r>
            <a:endParaRPr sz="1100">
              <a:latin typeface="Calibri"/>
              <a:cs typeface="Calibri"/>
            </a:endParaRPr>
          </a:p>
          <a:p>
            <a:pPr lvl="1" marL="469900" marR="274955" indent="-228600">
              <a:lnSpc>
                <a:spcPct val="101800"/>
              </a:lnSpc>
              <a:spcBef>
                <a:spcPts val="204"/>
              </a:spcBef>
              <a:buChar char="•"/>
              <a:tabLst>
                <a:tab pos="469900" algn="l"/>
              </a:tabLst>
            </a:pPr>
            <a:r>
              <a:rPr dirty="0" sz="1100" spc="-10">
                <a:latin typeface="Calibri"/>
                <a:cs typeface="Calibri"/>
              </a:rPr>
              <a:t>Variety-</a:t>
            </a:r>
            <a:r>
              <a:rPr dirty="0" sz="1100">
                <a:latin typeface="Calibri"/>
                <a:cs typeface="Calibri"/>
              </a:rPr>
              <a:t>Specific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Responses: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varieties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respond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differently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levels. </a:t>
            </a:r>
            <a:r>
              <a:rPr dirty="0" sz="1100">
                <a:latin typeface="Calibri"/>
                <a:cs typeface="Calibri"/>
              </a:rPr>
              <a:t>Comparative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studies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across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multiple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improved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varieties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could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identify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genotype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×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nutrient </a:t>
            </a:r>
            <a:r>
              <a:rPr dirty="0" sz="1100">
                <a:latin typeface="Calibri"/>
                <a:cs typeface="Calibri"/>
              </a:rPr>
              <a:t>interaction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variety-</a:t>
            </a:r>
            <a:r>
              <a:rPr dirty="0" sz="1100">
                <a:latin typeface="Calibri"/>
                <a:cs typeface="Calibri"/>
              </a:rPr>
              <a:t>specific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recommendations.</a:t>
            </a:r>
            <a:endParaRPr sz="1100">
              <a:latin typeface="Calibri"/>
              <a:cs typeface="Calibri"/>
            </a:endParaRPr>
          </a:p>
          <a:p>
            <a:pPr algn="just" lvl="1" marL="469900" marR="219710" indent="-228600">
              <a:lnSpc>
                <a:spcPct val="101800"/>
              </a:lnSpc>
              <a:spcBef>
                <a:spcPts val="19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Economic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Analysis: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Detailed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benefit-cost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ratio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analysis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should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conducted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across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treatment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identify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economically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optimum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NPK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dose,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agronomically </a:t>
            </a:r>
            <a:r>
              <a:rPr dirty="0" sz="1100">
                <a:latin typeface="Calibri"/>
                <a:cs typeface="Calibri"/>
              </a:rPr>
              <a:t>optimum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dose,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particularly</a:t>
            </a:r>
            <a:r>
              <a:rPr dirty="0" sz="1100">
                <a:latin typeface="Calibri"/>
                <a:cs typeface="Calibri"/>
              </a:rPr>
              <a:t> for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small-</a:t>
            </a:r>
            <a:r>
              <a:rPr dirty="0" sz="1100">
                <a:latin typeface="Calibri"/>
                <a:cs typeface="Calibri"/>
              </a:rPr>
              <a:t>scale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resource-</a:t>
            </a:r>
            <a:r>
              <a:rPr dirty="0" sz="1100">
                <a:latin typeface="Calibri"/>
                <a:cs typeface="Calibri"/>
              </a:rPr>
              <a:t>poor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farmers.</a:t>
            </a:r>
            <a:endParaRPr sz="1100">
              <a:latin typeface="Calibri"/>
              <a:cs typeface="Calibri"/>
            </a:endParaRPr>
          </a:p>
          <a:p>
            <a:pPr lvl="1" marL="469900" marR="5080" indent="-228600">
              <a:lnSpc>
                <a:spcPct val="101800"/>
              </a:lnSpc>
              <a:spcBef>
                <a:spcPts val="190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Remote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Sensing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Precision</a:t>
            </a:r>
            <a:r>
              <a:rPr dirty="0" sz="1100" spc="-10">
                <a:latin typeface="Calibri"/>
                <a:cs typeface="Calibri"/>
              </a:rPr>
              <a:t> Agriculture:</a:t>
            </a:r>
            <a:r>
              <a:rPr dirty="0" sz="1100">
                <a:latin typeface="Calibri"/>
                <a:cs typeface="Calibri"/>
              </a:rPr>
              <a:t> Incorporating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drone-</a:t>
            </a:r>
            <a:r>
              <a:rPr dirty="0" sz="1100">
                <a:latin typeface="Calibri"/>
                <a:cs typeface="Calibri"/>
              </a:rPr>
              <a:t>based imaging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NDVI analysis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for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monitoring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precision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nutrient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management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help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optimize</a:t>
            </a:r>
            <a:r>
              <a:rPr dirty="0" sz="1100" spc="-10">
                <a:latin typeface="Calibri"/>
                <a:cs typeface="Calibri"/>
              </a:rPr>
              <a:t> fertilizer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variable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rates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field.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7704" y="430783"/>
            <a:ext cx="6200775" cy="8461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solidFill>
                  <a:srgbClr val="1B5E1F"/>
                </a:solidFill>
                <a:latin typeface="Calibri"/>
                <a:cs typeface="Calibri"/>
              </a:rPr>
              <a:t>9.</a:t>
            </a:r>
            <a:r>
              <a:rPr dirty="0" sz="1600" spc="-15" b="1">
                <a:solidFill>
                  <a:srgbClr val="1B5E1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B5E1F"/>
                </a:solidFill>
                <a:latin typeface="Calibri"/>
                <a:cs typeface="Calibri"/>
              </a:rPr>
              <a:t>References</a:t>
            </a:r>
            <a:endParaRPr sz="1600">
              <a:latin typeface="Calibri"/>
              <a:cs typeface="Calibri"/>
            </a:endParaRPr>
          </a:p>
          <a:p>
            <a:pPr algn="just" marL="12700" marR="8255">
              <a:lnSpc>
                <a:spcPct val="135900"/>
              </a:lnSpc>
              <a:spcBef>
                <a:spcPts val="375"/>
              </a:spcBef>
            </a:pPr>
            <a:r>
              <a:rPr dirty="0" sz="1100">
                <a:latin typeface="Calibri"/>
                <a:cs typeface="Calibri"/>
              </a:rPr>
              <a:t>Badran,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M.M.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(2003).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nitrogenous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phosphatic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fertilization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some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economical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characters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soybean Crawford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cultivar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calcareous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soil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conditions. Egyptian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Journal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Agricultural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Research,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81(2): 433–</a:t>
            </a:r>
            <a:r>
              <a:rPr dirty="0" sz="1100" spc="-20">
                <a:latin typeface="Calibri"/>
                <a:cs typeface="Calibri"/>
              </a:rPr>
              <a:t>440.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Donald,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C.M.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(1962).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search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yield.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Journal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Australian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Institute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Agricultural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Science,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28: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171–</a:t>
            </a:r>
            <a:r>
              <a:rPr dirty="0" sz="1100" spc="-20">
                <a:latin typeface="Calibri"/>
                <a:cs typeface="Calibri"/>
              </a:rPr>
              <a:t>178.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9525">
              <a:lnSpc>
                <a:spcPct val="1357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Ghosh,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A.C.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(2014).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Studies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growth,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quality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field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(Lablab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purpureus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L.).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M.Sc.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Thesis,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University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Agricultural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Sciences,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Bengaluru.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8255">
              <a:lnSpc>
                <a:spcPct val="135500"/>
              </a:lnSpc>
            </a:pPr>
            <a:r>
              <a:rPr dirty="0" sz="1100">
                <a:latin typeface="Calibri"/>
                <a:cs typeface="Calibri"/>
              </a:rPr>
              <a:t>Gomez,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K.A.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Gomez,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A.A.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(1984).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Statistical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Procedures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Agricultural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Research.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Edition.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John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Wiley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Sons,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York.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12065">
              <a:lnSpc>
                <a:spcPct val="1355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Hazra,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Som,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M.G.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(1999).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Technology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Vegetable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Production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Improvement.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Naya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Prakash,</a:t>
            </a:r>
            <a:r>
              <a:rPr dirty="0" sz="1100" spc="-20">
                <a:latin typeface="Calibri"/>
                <a:cs typeface="Calibri"/>
              </a:rPr>
              <a:t> 206, </a:t>
            </a:r>
            <a:r>
              <a:rPr dirty="0" sz="1100">
                <a:latin typeface="Calibri"/>
                <a:cs typeface="Calibri"/>
              </a:rPr>
              <a:t>Bidhan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Sarani,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Calcutta,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India.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pp.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103–</a:t>
            </a:r>
            <a:r>
              <a:rPr dirty="0" sz="1100" spc="-20">
                <a:latin typeface="Calibri"/>
                <a:cs typeface="Calibri"/>
              </a:rPr>
              <a:t>134.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9525">
              <a:lnSpc>
                <a:spcPct val="135600"/>
              </a:lnSpc>
            </a:pPr>
            <a:r>
              <a:rPr dirty="0" sz="1100" spc="-10">
                <a:latin typeface="Calibri"/>
                <a:cs typeface="Calibri"/>
              </a:rPr>
              <a:t>Jaisankar,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I.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Manivannan,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K.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(2016).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Effect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different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levels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field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bean. </a:t>
            </a:r>
            <a:r>
              <a:rPr dirty="0" sz="1100">
                <a:latin typeface="Calibri"/>
                <a:cs typeface="Calibri"/>
              </a:rPr>
              <a:t>Legume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Research,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39(3):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445–</a:t>
            </a:r>
            <a:r>
              <a:rPr dirty="0" sz="1100" spc="-20">
                <a:latin typeface="Calibri"/>
                <a:cs typeface="Calibri"/>
              </a:rPr>
              <a:t>449.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8890">
              <a:lnSpc>
                <a:spcPct val="135900"/>
              </a:lnSpc>
            </a:pPr>
            <a:r>
              <a:rPr dirty="0" sz="1100">
                <a:latin typeface="Calibri"/>
                <a:cs typeface="Calibri"/>
              </a:rPr>
              <a:t>Kharlamov,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B.,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Jha,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A.K.,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Verma,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V.K.,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Choudhury,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B.U.,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Nath,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A.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Deka,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B.C.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(2017).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Response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planting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dosage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yield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nutrient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uptake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Dolichos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(Lablab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purpureus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L.).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Indian </a:t>
            </a:r>
            <a:r>
              <a:rPr dirty="0" sz="1100">
                <a:latin typeface="Calibri"/>
                <a:cs typeface="Calibri"/>
              </a:rPr>
              <a:t>Journal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Hill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Farming,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30(1):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28–</a:t>
            </a:r>
            <a:r>
              <a:rPr dirty="0" sz="1100" spc="-25">
                <a:latin typeface="Calibri"/>
                <a:cs typeface="Calibri"/>
              </a:rPr>
              <a:t>34.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8890">
              <a:lnSpc>
                <a:spcPct val="1355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Rao,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M.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(2001).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Nutrient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management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Dolichos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bean.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Ph.D.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Thesis,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University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Agricultural</a:t>
            </a:r>
            <a:r>
              <a:rPr dirty="0" sz="1100" spc="1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Sciences, Dharwad.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7620">
              <a:lnSpc>
                <a:spcPct val="135500"/>
              </a:lnSpc>
            </a:pPr>
            <a:r>
              <a:rPr dirty="0" sz="1100" spc="-10">
                <a:latin typeface="Calibri"/>
                <a:cs typeface="Calibri"/>
              </a:rPr>
              <a:t>Saileela,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K.,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Kadasiddappa,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Malve,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S.H.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(2015).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Growth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yield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performance 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bush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beans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(Phaseolus </a:t>
            </a:r>
            <a:r>
              <a:rPr dirty="0" sz="1100">
                <a:latin typeface="Calibri"/>
                <a:cs typeface="Calibri"/>
              </a:rPr>
              <a:t>vulgaris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L.)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varying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irrigation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fertigation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K.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Research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Environment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8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Life </a:t>
            </a:r>
            <a:r>
              <a:rPr dirty="0" sz="1100">
                <a:latin typeface="Calibri"/>
                <a:cs typeface="Calibri"/>
              </a:rPr>
              <a:t>Sciences,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ISSN: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2168–9881.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12065">
              <a:lnSpc>
                <a:spcPct val="136300"/>
              </a:lnSpc>
            </a:pPr>
            <a:r>
              <a:rPr dirty="0" sz="1100">
                <a:latin typeface="Calibri"/>
                <a:cs typeface="Calibri"/>
              </a:rPr>
              <a:t>Sampika,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et al.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(2017).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potassium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parameters 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field </a:t>
            </a:r>
            <a:r>
              <a:rPr dirty="0" sz="1100">
                <a:latin typeface="Calibri"/>
                <a:cs typeface="Calibri"/>
              </a:rPr>
              <a:t>bean.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Journal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Agricultural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Sciences,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12(2):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89–</a:t>
            </a:r>
            <a:r>
              <a:rPr dirty="0" sz="1100" spc="-25">
                <a:latin typeface="Calibri"/>
                <a:cs typeface="Calibri"/>
              </a:rPr>
              <a:t>96.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105" y="430783"/>
            <a:ext cx="3533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Effect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NPK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Levels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on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Growth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&amp;</a:t>
            </a:r>
            <a:r>
              <a:rPr dirty="0" sz="900" spc="-3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Yield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of</a:t>
            </a:r>
            <a:r>
              <a:rPr dirty="0" sz="900" spc="-2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Field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Bean</a:t>
            </a:r>
            <a:r>
              <a:rPr dirty="0" sz="900" spc="-2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|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UAS,</a:t>
            </a:r>
            <a:r>
              <a:rPr dirty="0" sz="900" spc="-15" i="1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D7C31"/>
                </a:solidFill>
                <a:latin typeface="Calibri"/>
                <a:cs typeface="Calibri"/>
              </a:rPr>
              <a:t>GKVK</a:t>
            </a:r>
            <a:r>
              <a:rPr dirty="0" sz="900" spc="-10" i="1">
                <a:solidFill>
                  <a:srgbClr val="2D7C31"/>
                </a:solidFill>
                <a:latin typeface="Calibri"/>
                <a:cs typeface="Calibri"/>
              </a:rPr>
              <a:t> Bengaluru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2116" y="600455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6"/>
                </a:lnTo>
                <a:lnTo>
                  <a:pt x="6209665" y="6096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2116" y="9453067"/>
            <a:ext cx="6209665" cy="6350"/>
          </a:xfrm>
          <a:custGeom>
            <a:avLst/>
            <a:gdLst/>
            <a:ahLst/>
            <a:cxnLst/>
            <a:rect l="l" t="t" r="r" b="b"/>
            <a:pathLst>
              <a:path w="6209665" h="6350">
                <a:moveTo>
                  <a:pt x="6209665" y="0"/>
                </a:moveTo>
                <a:lnTo>
                  <a:pt x="0" y="0"/>
                </a:lnTo>
                <a:lnTo>
                  <a:pt x="0" y="6095"/>
                </a:lnTo>
                <a:lnTo>
                  <a:pt x="6209665" y="6095"/>
                </a:lnTo>
                <a:lnTo>
                  <a:pt x="6209665" y="0"/>
                </a:lnTo>
                <a:close/>
              </a:path>
            </a:pathLst>
          </a:custGeom>
          <a:solidFill>
            <a:srgbClr val="1B5E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704" y="1070203"/>
            <a:ext cx="6198870" cy="19837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35500"/>
              </a:lnSpc>
              <a:spcBef>
                <a:spcPts val="95"/>
              </a:spcBef>
            </a:pPr>
            <a:r>
              <a:rPr dirty="0" sz="1100">
                <a:latin typeface="Calibri"/>
                <a:cs typeface="Calibri"/>
              </a:rPr>
              <a:t>Singh,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R.A.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Singh,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H.R.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(2004).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nitrogen,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potassium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yield,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quality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and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moisture </a:t>
            </a:r>
            <a:r>
              <a:rPr dirty="0" sz="1100">
                <a:latin typeface="Calibri"/>
                <a:cs typeface="Calibri"/>
              </a:rPr>
              <a:t>use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pattern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linseed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rainfed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lands.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Indian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Journal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Agronomy,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48(10):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583–</a:t>
            </a:r>
            <a:r>
              <a:rPr dirty="0" sz="1100" spc="-20">
                <a:latin typeface="Calibri"/>
                <a:cs typeface="Calibri"/>
              </a:rPr>
              <a:t>588.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Singh,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V.K.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(2005).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Role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crop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production: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review.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Fertilizer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50(4):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13–</a:t>
            </a:r>
            <a:r>
              <a:rPr dirty="0" sz="1100" spc="-25">
                <a:latin typeface="Calibri"/>
                <a:cs typeface="Calibri"/>
              </a:rPr>
              <a:t>20.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100">
              <a:latin typeface="Calibri"/>
              <a:cs typeface="Calibri"/>
            </a:endParaRPr>
          </a:p>
          <a:p>
            <a:pPr algn="just" marL="12700" marR="7620">
              <a:lnSpc>
                <a:spcPct val="1355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Tiwari,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Kumar,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K. (2002).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Effect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biofertilizer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phosphorus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nodulation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10">
                <a:latin typeface="Calibri"/>
                <a:cs typeface="Calibri"/>
              </a:rPr>
              <a:t>yield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mungbean.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Proceedings,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International Conference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Grain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Legumes: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Quality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Improvement,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Value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Addition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Trade,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14–</a:t>
            </a:r>
            <a:r>
              <a:rPr dirty="0" sz="1100">
                <a:latin typeface="Calibri"/>
                <a:cs typeface="Calibri"/>
              </a:rPr>
              <a:t>16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February,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pp.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158–</a:t>
            </a:r>
            <a:r>
              <a:rPr dirty="0" sz="1100" spc="-20">
                <a:latin typeface="Calibri"/>
                <a:cs typeface="Calibri"/>
              </a:rPr>
              <a:t>159.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>
                <a:solidFill>
                  <a:srgbClr val="545454"/>
                </a:solidFill>
              </a:rPr>
              <a:t>Page</a:t>
            </a:r>
            <a:r>
              <a:rPr dirty="0" spc="-10">
                <a:solidFill>
                  <a:srgbClr val="545454"/>
                </a:solidFill>
              </a:rPr>
              <a:t> </a:t>
            </a: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of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Un-named</dc:creator>
  <dcterms:created xsi:type="dcterms:W3CDTF">2026-04-02T03:43:11Z</dcterms:created>
  <dcterms:modified xsi:type="dcterms:W3CDTF">2026-04-02T03:43:11Z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2026-04-02T00:00:00Z</vt:filetime>
  </property>
  <property fmtid="{D5CDD505-2E9C-101B-9397-08002B2CF9AE}" pid="5" name="Producer">
    <vt:lpwstr>Microsoft® Word for Microsoft 365</vt:lpwstr>
  </property>
</Properties>
</file>